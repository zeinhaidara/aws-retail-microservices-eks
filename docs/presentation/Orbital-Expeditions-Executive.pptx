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ba186425d1400e" /><Relationship Type="http://schemas.openxmlformats.org/officeDocument/2006/relationships/extended-properties" Target="/docProps/app.xml" Id="R2984d102de374702" /><Relationship Type="http://schemas.openxmlformats.org/officeDocument/2006/relationships/officeDocument" Target="/ppt/presentation.xml" Id="R579cbb5918594763" /></Relationships>
</file>

<file path=ppt/presentation.xml><?xml version="1.0" encoding="utf-8"?>
<p:presentation xmlns:p="http://schemas.openxmlformats.org/presentationml/2006/main">
  <p:sldMasterIdLst>
    <p:sldMasterId xmlns:r="http://schemas.openxmlformats.org/officeDocument/2006/relationships" id="2147483648" r:id="R58137ed175cc4e31"/>
  </p:sldMasterIdLst>
  <p:notesMasterIdLst>
    <p:notesMasterId xmlns:r="http://schemas.openxmlformats.org/officeDocument/2006/relationships" r:id="R46f0b6dd8cf54d9b"/>
  </p:notesMasterIdLst>
  <p:sldIdLst>
    <p:sldId xmlns:r="http://schemas.openxmlformats.org/officeDocument/2006/relationships" id="256" r:id="R843a18eece314a12"/>
    <p:sldId xmlns:r="http://schemas.openxmlformats.org/officeDocument/2006/relationships" id="257" r:id="Rc7a6be8c5cdd4bc0"/>
    <p:sldId xmlns:r="http://schemas.openxmlformats.org/officeDocument/2006/relationships" id="258" r:id="Rfa72f13e1184414a"/>
    <p:sldId xmlns:r="http://schemas.openxmlformats.org/officeDocument/2006/relationships" id="259" r:id="R9a0727c9e6c24274"/>
    <p:sldId xmlns:r="http://schemas.openxmlformats.org/officeDocument/2006/relationships" id="260" r:id="R8e6aecf9be3542fd"/>
    <p:sldId xmlns:r="http://schemas.openxmlformats.org/officeDocument/2006/relationships" id="261" r:id="Rb2f2aaa57f6f4ef5"/>
    <p:sldId xmlns:r="http://schemas.openxmlformats.org/officeDocument/2006/relationships" id="262" r:id="R0b87d19e59a84e6a"/>
    <p:sldId xmlns:r="http://schemas.openxmlformats.org/officeDocument/2006/relationships" id="263" r:id="R92d3955d10fe4800"/>
    <p:sldId xmlns:r="http://schemas.openxmlformats.org/officeDocument/2006/relationships" id="264" r:id="Rec0bb802886d44da"/>
    <p:sldId xmlns:r="http://schemas.openxmlformats.org/officeDocument/2006/relationships" id="265" r:id="Rb5b96c92cf274a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6058d5522141ad" /><Relationship Type="http://schemas.openxmlformats.org/officeDocument/2006/relationships/slideMaster" Target="/ppt/slideMasters/slideMaster1.xml" Id="R58137ed175cc4e31" /><Relationship Type="http://schemas.openxmlformats.org/officeDocument/2006/relationships/notesMaster" Target="/ppt/notesMasters/notesMaster1.xml" Id="R46f0b6dd8cf54d9b" /><Relationship Type="http://schemas.openxmlformats.org/officeDocument/2006/relationships/presProps" Target="/ppt/presProps.xml" Id="R1403bfaf89604473" /><Relationship Type="http://schemas.openxmlformats.org/officeDocument/2006/relationships/tableStyles" Target="/ppt/tableStyles.xml" Id="R4a48085bddf94bba" /><Relationship Type="http://schemas.openxmlformats.org/officeDocument/2006/relationships/slide" Target="/ppt/slides/slide1.xml" Id="R843a18eece314a12" /><Relationship Type="http://schemas.openxmlformats.org/officeDocument/2006/relationships/slide" Target="/ppt/slides/slide2.xml" Id="Rc7a6be8c5cdd4bc0" /><Relationship Type="http://schemas.openxmlformats.org/officeDocument/2006/relationships/slide" Target="/ppt/slides/slide3.xml" Id="Rfa72f13e1184414a" /><Relationship Type="http://schemas.openxmlformats.org/officeDocument/2006/relationships/slide" Target="/ppt/slides/slide4.xml" Id="R9a0727c9e6c24274" /><Relationship Type="http://schemas.openxmlformats.org/officeDocument/2006/relationships/slide" Target="/ppt/slides/slide5.xml" Id="R8e6aecf9be3542fd" /><Relationship Type="http://schemas.openxmlformats.org/officeDocument/2006/relationships/slide" Target="/ppt/slides/slide6.xml" Id="Rb2f2aaa57f6f4ef5" /><Relationship Type="http://schemas.openxmlformats.org/officeDocument/2006/relationships/slide" Target="/ppt/slides/slide7.xml" Id="R0b87d19e59a84e6a" /><Relationship Type="http://schemas.openxmlformats.org/officeDocument/2006/relationships/slide" Target="/ppt/slides/slide8.xml" Id="R92d3955d10fe4800" /><Relationship Type="http://schemas.openxmlformats.org/officeDocument/2006/relationships/slide" Target="/ppt/slides/slide9.xml" Id="Rec0bb802886d44da" /><Relationship Type="http://schemas.openxmlformats.org/officeDocument/2006/relationships/slide" Target="/ppt/slides/slide10.xml" Id="Rb5b96c92cf274a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cbf161847742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74bdd4eb784ab9" /><Relationship Type="http://schemas.openxmlformats.org/officeDocument/2006/relationships/notesMaster" Target="/ppt/notesMasters/notesMaster1.xml" Id="Rafc97cebaf8143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b0702c81e44b90" /><Relationship Type="http://schemas.openxmlformats.org/officeDocument/2006/relationships/notesMaster" Target="/ppt/notesMasters/notesMaster1.xml" Id="Rd1bf5c228a6c44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c8d70c1b3a49e0" /><Relationship Type="http://schemas.openxmlformats.org/officeDocument/2006/relationships/notesMaster" Target="/ppt/notesMasters/notesMaster1.xml" Id="Reb409f17ddbb49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4890f0765a45ed" /><Relationship Type="http://schemas.openxmlformats.org/officeDocument/2006/relationships/notesMaster" Target="/ppt/notesMasters/notesMaster1.xml" Id="Rf9777875cc674f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32258ed6b64b28" /><Relationship Type="http://schemas.openxmlformats.org/officeDocument/2006/relationships/notesMaster" Target="/ppt/notesMasters/notesMaster1.xml" Id="Rd75fc8c38be14f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35cbbd55d2407a" /><Relationship Type="http://schemas.openxmlformats.org/officeDocument/2006/relationships/notesMaster" Target="/ppt/notesMasters/notesMaster1.xml" Id="Rd004da0b3ab94a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755c90d8be465c" /><Relationship Type="http://schemas.openxmlformats.org/officeDocument/2006/relationships/notesMaster" Target="/ppt/notesMasters/notesMaster1.xml" Id="Rd92853d4fcd343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17f72717f64273" /><Relationship Type="http://schemas.openxmlformats.org/officeDocument/2006/relationships/notesMaster" Target="/ppt/notesMasters/notesMaster1.xml" Id="Re412da0472f348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a411c719c94897" /><Relationship Type="http://schemas.openxmlformats.org/officeDocument/2006/relationships/notesMaster" Target="/ppt/notesMasters/notesMaster1.xml" Id="Rc5848033dc1748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c06d2e833641cd" /><Relationship Type="http://schemas.openxmlformats.org/officeDocument/2006/relationships/notesMaster" Target="/ppt/notesMasters/notesMaster1.xml" Id="R4fe9c930fcae41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Good morning. I am Moulaye Haidara. Orbital Expeditions is a fictional travel storefront, but the platform behind it performs real inventory reservations, stores orders, and sends email through AWS. I will show the customer experience, explain the architecture and controls, then outline the remaining investment needed for a production pilot.</a:t>
            </a:r>
          </a:p>
          <a:p xmlns:a="http://schemas.openxmlformats.org/drawingml/2006/main">
            <a:r>
              <a:t>Evidence: repository main/app source and user-confirmed Gmail delivery, 4 October 2026. Monitoring is proposed code until both deployments complete. https://github.com/zeinhaidara/aws-retail-microservices-eks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purpose is to demonstrate a delivery pattern that a business could reuse for a real catalog, appointment or reservation service. The customer gets a single experience. Behind that experience, separate services own catalog, availability, orders and communications. This lets a team change one capability without combining all business logic in one application. The AI planner helps visitors explore the catalog, while the Order service remains authoritative for price and stock. I am not claiming revenue, cost savings or a measured return. This is evidence of an end-to-end technical capability, ready for a bounded next step.</a:t>
            </a:r>
          </a:p>
          <a:p xmlns:a="http://schemas.openxmlformats.org/drawingml/2006/main">
            <a:r>
              <a:t>Evidence: repository main/app source and user-confirmed Gmail delivery, 4 October 2026. Monitoring is proposed code until both deployments complete. https://github.com/zeinhaidara/aws-retail-microservices-eks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Switch to the prepared browser. Show one catalog package with stock available, then briefly show the planner. Explain that recommendations do not set prices. Use an email already verified before the meeting so the demonstration avoids a verification delay. Select one seat and reserve it. Show the reservation reference and then the confirmation email. The screen says queued because email is asynchronous. The customer does not wait for an email provider before receiving an order result. If the live experience fails, stop the demo after thirty seconds and use a previously captured reservation and email with their timestamp. Do not make repeated reservations that consume scarce stock. Return to the deck on time. No payment processing exists, and all travel packages are fictional.</a:t>
            </a:r>
          </a:p>
          <a:p xmlns:a="http://schemas.openxmlformats.org/drawingml/2006/main">
            <a:r>
              <a:t>Evidence: repository main/app source and user-confirmed Gmail delivery, 4 October 2026. Monitoring is proposed code until both deployments complete. https://github.com/zeinhaidara/aws-retail-microservices-eks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Route 53 resolves the public hostname. The browser sends HTTPS to the load balancer, where ACM provides the certificate. The load balancer sends the request to the storefront running on EKS Fargate. The storefront proxies same-origin API requests to private services. Product owns the catalog and uses Valkey as a cache. Inventory owns availability in DynamoDB. Order stores reservations in MySQL. These databases are managed AWS services, not containers inside EKS. The application pods sit in private subnets, with access to private data endpoints controlled by security groups. Fargate runs each pod without an EC2 node group that we manage. IAM roles bound to service accounts grant AWS API permissions. The AI planner is also a separate service and uses the same authoritative catalog. This simplified diagram leaves the email path for the next slide.</a:t>
            </a:r>
          </a:p>
          <a:p xmlns:a="http://schemas.openxmlformats.org/drawingml/2006/main">
            <a:r>
              <a:t>Evidence: repository main/app source and user-confirmed Gmail delivery, 4 October 2026. Monitoring is proposed code until both deployments complete. https://github.com/zeinhaidara/aws-retail-microservices-eks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 seconds. Order commits its database record and an outbox event in the same MySQL transaction. A worker publishes pending events to EventBridge. A matching rule routes OrderCreated events to SQS. Notification reads that queue, fetches the saved order and calls SES. It acknowledges the message after successful processing. If processing fails, SQS retries and eventually moves the message to a dead-letter queue. We diagnosed a real SES IAM failure this way. The recipient was verified, but the runtime role lacked permission on that recipient identity. Expanding the scoped identity permission while restricting the sender resolved it, and Gmail delivery confirmed the fix. The outbox reduces event loss, but messages can duplicate. Production needs notification idempotency, shared verification state and operational alerting. SES acceptance alone does not prove inbox delivery.</a:t>
            </a:r>
          </a:p>
          <a:p xmlns:a="http://schemas.openxmlformats.org/drawingml/2006/main">
            <a:r>
              <a:t>Evidence: repository main/app source and user-confirmed Gmail delivery, 4 October 2026. Monitoring is proposed code until both deployments complete. https://github.com/zeinhaidara/aws-retail-microservices-eks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Infrastructure and application code use separate protected branches. Infrastructure changes go through Terraform validation and a reviewed plan, followed by a manual approval and apply. Application changes go through unit tests, a local integration smoke test and security checks. After merge, the release workflow builds immutable commit-tagged images in ECR. A protected environment approval gates the Helm deployment. OIDC avoids storing AWS access keys in GitHub. Runtime roles remain separate from the deployment role. These controls make changes visible and traceable. They do not make Terraform transactional. A failed apply must retain and reconcile its state; restoring an old state file would not delete cloud resources.</a:t>
            </a:r>
          </a:p>
          <a:p xmlns:a="http://schemas.openxmlformats.org/drawingml/2006/main">
            <a:r>
              <a:t>Evidence: repository main/app source and user-confirmed Gmail delivery, 4 October 2026. Monitoring is proposed code until both deployments complete. https://github.com/zeinhaidara/aws-retail-microservices-eks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Prometheus scrapes application metrics from each service pod. Grafana presents the provisioned operations dashboard. The useful signals are request rate, server errors, latency, confirmed reservations, email acceptance attempts and outbox retries. The dashboard contains no recipient addresses or order IDs. The new code requires both infrastructure and application deployment before these panels are live. Prometheus remains private and Grafana requires login on the existing HTTPS endpoint. On Fargate, this design uses ordinary pods rather than node agents. For this demonstrator, storage is temporary. A restart can lose history, so production requires a durable or managed option. Scrape health shows reachability, not complete business health. Queue depth and delivery or bounce telemetry remain additional work.</a:t>
            </a:r>
          </a:p>
          <a:p xmlns:a="http://schemas.openxmlformats.org/drawingml/2006/main">
            <a:r>
              <a:t>Evidence: repository main/app source and user-confirmed Gmail delivery, 4 October 2026. Monitoring is proposed code until both deployments complete. https://github.com/zeinhaidara/aws-retail-microservices-eks</a:t>
            </a:r>
          </a:p>
          <a:p xmlns:a="http://schemas.openxmlformats.org/drawingml/2006/main">
            <a:r>
              <a:t>References: https://docs.aws.amazon.com/eks/latest/userguide/fargate.html ; https://prometheus.io/docs/prometheus/latest/configuration/configuration/ ; https://grafana.com/docs/grafana/latest/administration/provisioning/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We should separate cost structure from any unverified dollar estimate. Some resources generate costs while the demo is idle: the EKS control plane, NAT gateway, load balancer, database and cache. Fargate charges for provisioned pod capacity, not simply the number of visitors. Adding Prometheus and Grafana adds two running pods. Other managed services and AI providers have usage and quota considerations. To answer a CFO accurately, the next step is an account billing baseline, a traffic model and explicit retention and availability requirements. I have not measured ROI or a production cost per order. The strongest current value is a demonstrable delivery pattern with clear places to size, monitor and control spend. We can limit environments and remove unused demo stacks after preserving necessary data.</a:t>
            </a:r>
          </a:p>
          <a:p xmlns:a="http://schemas.openxmlformats.org/drawingml/2006/main">
            <a:r>
              <a:t>Evidence: repository main/app source and user-confirmed Gmail delivery, 4 October 2026. Monitoring is proposed code until both deployments complete. https://github.com/zeinhaidara/aws-retail-microservices-eks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Today we have a functional development demonstrator, not a production SLA. The current database is single-AZ and uses a master credential. Verification tokens and limits live in one process. Notification delivery can duplicate and the monitoring history is temporary. For a production pilot, I would prioritize shared verification state, idempotency, a restricted database account, stronger backups and restore testing, access control and operational alerting. Availability and spend must follow a business target, rather than assuming this demo size is sufficient. SNS is not in the current EventBridge-to-SQS path. If the project requires SNS fanout, that remains a separate implementation and acceptance item. The next decision should approve a bounded pilot with agreed users, reliability and a spending ceiling.</a:t>
            </a:r>
          </a:p>
          <a:p xmlns:a="http://schemas.openxmlformats.org/drawingml/2006/main">
            <a:r>
              <a:t>Evidence: repository main/app source and user-confirmed Gmail delivery, 4 October 2026. Monitoring is proposed code until both deployments complete. https://github.com/zeinhaidara/aws-retail-microservices-eks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This project demonstrates that I can connect the customer experience to infrastructure, application delivery and operational troubleshooting. My recommendation is a bounded production pilot after we close the documented control gaps. We should agree the owner, acceptance criteria, availability target and budget, then validate with real load and billing evidence. Thank you. I am ready to explain any part of the request, data or delivery flow.</a:t>
            </a:r>
          </a:p>
          <a:p xmlns:a="http://schemas.openxmlformats.org/drawingml/2006/main">
            <a:r>
              <a:t>Evidence: repository main/app source and user-confirmed Gmail delivery, 4 October 2026. Monitoring is proposed code until both deployments complete. https://github.com/zeinhaidara/aws-retail-microservices-eks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01991f77c742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c1b5c03b5c4d5d" /><Relationship Type="http://schemas.openxmlformats.org/officeDocument/2006/relationships/slideLayout" Target="/ppt/slideLayouts/slideLayout1.xml" Id="R01935b07597849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935b07597849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8e4c21b3d14e0b" /><Relationship Type="http://schemas.openxmlformats.org/officeDocument/2006/relationships/image" Target="/ppt/media/image.png" Id="Rc18d457aca9749dd" /><Relationship Type="http://schemas.openxmlformats.org/officeDocument/2006/relationships/notesSlide" Target="/ppt/notesSlides/notesSlide1.xml" Id="Rb56cb3d71fc64f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991db0216c47e2" /><Relationship Type="http://schemas.openxmlformats.org/officeDocument/2006/relationships/notesSlide" Target="/ppt/notesSlides/notesSlide2.xml" Id="R851f6c2e351b4f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428568225bf4927" /><Relationship Type="http://schemas.openxmlformats.org/officeDocument/2006/relationships/notesSlide" Target="/ppt/notesSlides/notesSlide3.xml" Id="R7693961ad1e747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2f45344afa4513" /><Relationship Type="http://schemas.openxmlformats.org/officeDocument/2006/relationships/notesSlide" Target="/ppt/notesSlides/notesSlide4.xml" Id="Raca400a3532044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bf7237a3dc4e37" /><Relationship Type="http://schemas.openxmlformats.org/officeDocument/2006/relationships/notesSlide" Target="/ppt/notesSlides/notesSlide5.xml" Id="R39d8c8957a704b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66afefe6854a83" /><Relationship Type="http://schemas.openxmlformats.org/officeDocument/2006/relationships/notesSlide" Target="/ppt/notesSlides/notesSlide6.xml" Id="R380e3a73d8774c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a69e24c4f7429d" /><Relationship Type="http://schemas.openxmlformats.org/officeDocument/2006/relationships/notesSlide" Target="/ppt/notesSlides/notesSlide7.xml" Id="R42f6dd3aa3d544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cd3532157f4584" /><Relationship Type="http://schemas.openxmlformats.org/officeDocument/2006/relationships/notesSlide" Target="/ppt/notesSlides/notesSlide8.xml" Id="R5ef1ab5a97514c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b8dd407a8b44c5" /><Relationship Type="http://schemas.openxmlformats.org/officeDocument/2006/relationships/notesSlide" Target="/ppt/notesSlides/notesSlide9.xml" Id="R6c785667920f43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56edcf0a1a14f36" /><Relationship Type="http://schemas.openxmlformats.org/officeDocument/2006/relationships/notesSlide" Target="/ppt/notesSlides/notesSlide10.xml" Id="Rc3623a9eee854fa4" /></Relationships>
</file>

<file path=ppt/slides/slide1.xml><?xml version="1.0" encoding="utf-8"?>
<p:sld xmlns:p="http://schemas.openxmlformats.org/presentationml/2006/main">
  <p:cSld>
    <p:bg>
      <p:bgPr>
        <a:solidFill xmlns:a="http://schemas.openxmlformats.org/drawingml/2006/main">
          <a:srgbClr val="1117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F97064-019B-4F27-8D12-B4DAF64ECF7F}"/>
              </a:ext>
            </a:extLst>
          </p:cNvPr>
          <p:cNvSpPr>
            <a:spLocks xmlns:a="http://schemas.openxmlformats.org/drawingml/2006/main" noGrp="1"/>
          </p:cNvSpPr>
          <p:nvPr/>
        </p:nvSpPr>
        <p:spPr>
          <a:xfrm xmlns:a="http://schemas.openxmlformats.org/drawingml/2006/main">
            <a:off x="685800" y="4953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18d457aca9749dd"/>
          <a:srcRect xmlns:a="http://schemas.openxmlformats.org/drawingml/2006/main" l="35648" t="0" r="35648"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8BB63BA-C40A-46C7-B2B1-4B7A9D189D00}"/>
              </a:ext>
            </a:extLst>
          </p:cNvPr>
          <p:cNvSpPr>
            <a:spLocks xmlns:a="http://schemas.openxmlformats.org/drawingml/2006/main" noGrp="1"/>
          </p:cNvSpPr>
          <p:nvPr/>
        </p:nvSpPr>
        <p:spPr>
          <a:xfrm xmlns:a="http://schemas.openxmlformats.org/drawingml/2006/main">
            <a:off x="685800" y="1676400"/>
            <a:ext cx="5429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4F0EA"/>
                </a:solidFill>
                <a:latin typeface="Aptos"/>
                <a:ea typeface="Aptos"/>
                <a:cs typeface="Aptos"/>
              </a:defRPr>
            </a:pPr>
            <a:r>
              <a:rPr sz="5250" b="1">
                <a:solidFill>
                  <a:srgbClr val="F4F0EA"/>
                </a:solidFill>
                <a:latin typeface="Aptos"/>
                <a:ea typeface="Aptos"/>
                <a:cs typeface="Aptos"/>
              </a:rPr>
              <a:t>Orbital</a:t>
            </a:r>
          </a:p>
          <a:p xmlns:a="http://schemas.openxmlformats.org/drawingml/2006/main">
            <a:pPr>
              <a:defRPr sz="5250" b="1">
                <a:solidFill>
                  <a:srgbClr val="F4F0EA"/>
                </a:solidFill>
                <a:latin typeface="Aptos"/>
                <a:ea typeface="Aptos"/>
                <a:cs typeface="Aptos"/>
              </a:defRPr>
            </a:pPr>
            <a:r>
              <a:rPr sz="5250" b="1">
                <a:solidFill>
                  <a:srgbClr val="F4F0EA"/>
                </a:solidFill>
                <a:latin typeface="Aptos"/>
                <a:ea typeface="Aptos"/>
                <a:cs typeface="Aptos"/>
              </a:rPr>
              <a:t>Expeditions</a:t>
            </a:r>
          </a:p>
        </p:txBody>
      </p:sp>
      <p:sp>
        <p:nvSpPr>
          <p:cNvPr id="4" name="">
            <a:extLst xmlns:a="http://schemas.openxmlformats.org/drawingml/2006/main">
              <a:ext uri="{FF2B5EF4-FFF2-40B4-BE49-F238E27FC236}">
                <a16:creationId xmlns:a16="http://schemas.microsoft.com/office/drawing/2014/main" id="{9B80D81D-78B6-4EF8-87FD-A7AAE58880A2}"/>
              </a:ext>
            </a:extLst>
          </p:cNvPr>
          <p:cNvSpPr>
            <a:spLocks xmlns:a="http://schemas.openxmlformats.org/drawingml/2006/main" noGrp="1"/>
          </p:cNvSpPr>
          <p:nvPr/>
        </p:nvSpPr>
        <p:spPr>
          <a:xfrm xmlns:a="http://schemas.openxmlformats.org/drawingml/2006/main">
            <a:off x="685800" y="376237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B6A9ED"/>
                </a:solidFill>
                <a:latin typeface="Aptos"/>
                <a:ea typeface="Aptos"/>
                <a:cs typeface="Aptos"/>
              </a:defRPr>
            </a:pPr>
            <a:r>
              <a:rPr sz="2400" b="0">
                <a:solidFill>
                  <a:srgbClr val="B6A9ED"/>
                </a:solidFill>
                <a:latin typeface="Aptos"/>
                <a:ea typeface="Aptos"/>
                <a:cs typeface="Aptos"/>
              </a:rPr>
              <a:t>An AWS application from</a:t>
            </a:r>
          </a:p>
          <a:p xmlns:a="http://schemas.openxmlformats.org/drawingml/2006/main">
            <a:pPr>
              <a:defRPr sz="2400" b="0">
                <a:solidFill>
                  <a:srgbClr val="B6A9ED"/>
                </a:solidFill>
                <a:latin typeface="Aptos"/>
                <a:ea typeface="Aptos"/>
                <a:cs typeface="Aptos"/>
              </a:defRPr>
            </a:pPr>
            <a:r>
              <a:rPr sz="2400" b="0">
                <a:solidFill>
                  <a:srgbClr val="B6A9ED"/>
                </a:solidFill>
                <a:latin typeface="Aptos"/>
                <a:ea typeface="Aptos"/>
                <a:cs typeface="Aptos"/>
              </a:rPr>
              <a:t>reservation to confirmation</a:t>
            </a:r>
          </a:p>
        </p:txBody>
      </p:sp>
      <p:sp>
        <p:nvSpPr>
          <p:cNvPr id="5" name="">
            <a:extLst xmlns:a="http://schemas.openxmlformats.org/drawingml/2006/main">
              <a:ext uri="{FF2B5EF4-FFF2-40B4-BE49-F238E27FC236}">
                <a16:creationId xmlns:a16="http://schemas.microsoft.com/office/drawing/2014/main" id="{622A0027-1CE5-4C66-9995-69D5A11EF792}"/>
              </a:ext>
            </a:extLst>
          </p:cNvPr>
          <p:cNvSpPr>
            <a:spLocks xmlns:a="http://schemas.openxmlformats.org/drawingml/2006/main" noGrp="1"/>
          </p:cNvSpPr>
          <p:nvPr/>
        </p:nvSpPr>
        <p:spPr>
          <a:xfrm xmlns:a="http://schemas.openxmlformats.org/drawingml/2006/main">
            <a:off x="685800" y="57626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AC2D5"/>
                </a:solidFill>
                <a:latin typeface="Aptos"/>
                <a:ea typeface="Aptos"/>
                <a:cs typeface="Aptos"/>
              </a:defRPr>
            </a:pPr>
            <a:r>
              <a:rPr sz="1875" b="0">
                <a:solidFill>
                  <a:srgbClr val="BAC2D5"/>
                </a:solidFill>
                <a:latin typeface="Aptos"/>
                <a:ea typeface="Aptos"/>
                <a:cs typeface="Aptos"/>
              </a:rPr>
              <a:t>Moulaye Haidara</a:t>
            </a:r>
          </a:p>
        </p:txBody>
      </p:sp>
    </p:spTree>
    <p:extLst>
      <p:ext uri="{BB962C8B-B14F-4D97-AF65-F5344CB8AC3E}">
        <p14:creationId xmlns:p14="http://schemas.microsoft.com/office/powerpoint/2010/main" val="117170636"/>
      </p:ext>
    </p:extLst>
  </p:cSld>
</p:sld>
</file>

<file path=ppt/slides/slide2.xml><?xml version="1.0" encoding="utf-8"?>
<p:sld xmlns:p="http://schemas.openxmlformats.org/presentationml/2006/main">
  <p:cSld>
    <p:bg>
      <p:bgPr>
        <a:solidFill xmlns:a="http://schemas.openxmlformats.org/drawingml/2006/main">
          <a:srgbClr val="1117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CE7B97-5F69-45F5-B4D6-B9B24E8F0037}"/>
              </a:ext>
            </a:extLst>
          </p:cNvPr>
          <p:cNvSpPr>
            <a:spLocks xmlns:a="http://schemas.openxmlformats.org/drawingml/2006/main" noGrp="1"/>
          </p:cNvSpPr>
          <p:nvPr/>
        </p:nvSpPr>
        <p:spPr>
          <a:xfrm xmlns:a="http://schemas.openxmlformats.org/drawingml/2006/main">
            <a:off x="685800" y="4953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A"/>
                </a:solidFill>
                <a:latin typeface="Aptos"/>
                <a:ea typeface="Aptos"/>
                <a:cs typeface="Aptos"/>
              </a:defRPr>
            </a:pPr>
            <a:r>
              <a:rPr sz="3300" b="1">
                <a:solidFill>
                  <a:srgbClr val="F4F0EA"/>
                </a:solidFill>
                <a:latin typeface="Aptos"/>
                <a:ea typeface="Aptos"/>
                <a:cs typeface="Aptos"/>
              </a:rPr>
              <a:t>Business purpose</a:t>
            </a:r>
          </a:p>
        </p:txBody>
      </p:sp>
      <p:sp>
        <p:nvSpPr>
          <p:cNvPr id="2" name="">
            <a:extLst xmlns:a="http://schemas.openxmlformats.org/drawingml/2006/main">
              <a:ext uri="{FF2B5EF4-FFF2-40B4-BE49-F238E27FC236}">
                <a16:creationId xmlns:a16="http://schemas.microsoft.com/office/drawing/2014/main" id="{00D426FD-A7D3-4D3F-9CDC-10ABF61665FF}"/>
              </a:ext>
            </a:extLst>
          </p:cNvPr>
          <p:cNvSpPr>
            <a:spLocks xmlns:a="http://schemas.openxmlformats.org/drawingml/2006/main" noGrp="1"/>
          </p:cNvSpPr>
          <p:nvPr/>
        </p:nvSpPr>
        <p:spPr>
          <a:xfrm xmlns:a="http://schemas.openxmlformats.org/drawingml/2006/main">
            <a:off x="685800" y="16573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6A9ED"/>
                </a:solidFill>
                <a:latin typeface="Aptos"/>
                <a:ea typeface="Aptos"/>
                <a:cs typeface="Aptos"/>
              </a:defRPr>
            </a:pPr>
            <a:r>
              <a:rPr sz="2400" b="1">
                <a:solidFill>
                  <a:srgbClr val="B6A9ED"/>
                </a:solidFill>
                <a:latin typeface="Aptos"/>
                <a:ea typeface="Aptos"/>
                <a:cs typeface="Aptos"/>
              </a:rPr>
              <a:t>One complete customer journey</a:t>
            </a:r>
          </a:p>
        </p:txBody>
      </p:sp>
      <p:sp>
        <p:nvSpPr>
          <p:cNvPr id="3" name="">
            <a:extLst xmlns:a="http://schemas.openxmlformats.org/drawingml/2006/main">
              <a:ext uri="{FF2B5EF4-FFF2-40B4-BE49-F238E27FC236}">
                <a16:creationId xmlns:a16="http://schemas.microsoft.com/office/drawing/2014/main" id="{E74778E2-4570-4AA1-9204-4116A8B0AE97}"/>
              </a:ext>
            </a:extLst>
          </p:cNvPr>
          <p:cNvSpPr>
            <a:spLocks xmlns:a="http://schemas.openxmlformats.org/drawingml/2006/main" noGrp="1"/>
          </p:cNvSpPr>
          <p:nvPr/>
        </p:nvSpPr>
        <p:spPr>
          <a:xfrm xmlns:a="http://schemas.openxmlformats.org/drawingml/2006/main">
            <a:off x="685800" y="2219325"/>
            <a:ext cx="10363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4F0EA"/>
                </a:solidFill>
                <a:latin typeface="Aptos"/>
                <a:ea typeface="Aptos"/>
                <a:cs typeface="Aptos"/>
              </a:defRPr>
            </a:pPr>
            <a:r>
              <a:rPr sz="2100" b="0">
                <a:solidFill>
                  <a:srgbClr val="F4F0EA"/>
                </a:solidFill>
                <a:latin typeface="Aptos"/>
                <a:ea typeface="Aptos"/>
                <a:cs typeface="Aptos"/>
              </a:rPr>
              <a:t>Browse a catalog, reserve available inventory and receive a confirmation.</a:t>
            </a:r>
          </a:p>
        </p:txBody>
      </p:sp>
      <p:sp>
        <p:nvSpPr>
          <p:cNvPr id="4" name="">
            <a:extLst xmlns:a="http://schemas.openxmlformats.org/drawingml/2006/main">
              <a:ext uri="{FF2B5EF4-FFF2-40B4-BE49-F238E27FC236}">
                <a16:creationId xmlns:a16="http://schemas.microsoft.com/office/drawing/2014/main" id="{7C184AE5-928B-451A-8787-94FFA8FA83E6}"/>
              </a:ext>
            </a:extLst>
          </p:cNvPr>
          <p:cNvSpPr>
            <a:spLocks xmlns:a="http://schemas.openxmlformats.org/drawingml/2006/main" noGrp="1"/>
          </p:cNvSpPr>
          <p:nvPr/>
        </p:nvSpPr>
        <p:spPr>
          <a:xfrm xmlns:a="http://schemas.openxmlformats.org/drawingml/2006/main">
            <a:off x="685800" y="320992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6A9ED"/>
                </a:solidFill>
                <a:latin typeface="Aptos"/>
                <a:ea typeface="Aptos"/>
                <a:cs typeface="Aptos"/>
              </a:defRPr>
            </a:pPr>
            <a:r>
              <a:rPr sz="2400" b="1">
                <a:solidFill>
                  <a:srgbClr val="B6A9ED"/>
                </a:solidFill>
                <a:latin typeface="Aptos"/>
                <a:ea typeface="Aptos"/>
                <a:cs typeface="Aptos"/>
              </a:rPr>
              <a:t>Independent service ownership</a:t>
            </a:r>
          </a:p>
        </p:txBody>
      </p:sp>
      <p:sp>
        <p:nvSpPr>
          <p:cNvPr id="5" name="">
            <a:extLst xmlns:a="http://schemas.openxmlformats.org/drawingml/2006/main">
              <a:ext uri="{FF2B5EF4-FFF2-40B4-BE49-F238E27FC236}">
                <a16:creationId xmlns:a16="http://schemas.microsoft.com/office/drawing/2014/main" id="{AB38EB4C-CBC2-4CEB-B476-3964218E8F15}"/>
              </a:ext>
            </a:extLst>
          </p:cNvPr>
          <p:cNvSpPr>
            <a:spLocks xmlns:a="http://schemas.openxmlformats.org/drawingml/2006/main" noGrp="1"/>
          </p:cNvSpPr>
          <p:nvPr/>
        </p:nvSpPr>
        <p:spPr>
          <a:xfrm xmlns:a="http://schemas.openxmlformats.org/drawingml/2006/main">
            <a:off x="685800" y="3771900"/>
            <a:ext cx="10363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4F0EA"/>
                </a:solidFill>
                <a:latin typeface="Aptos"/>
                <a:ea typeface="Aptos"/>
                <a:cs typeface="Aptos"/>
              </a:defRPr>
            </a:pPr>
            <a:r>
              <a:rPr sz="2100" b="0">
                <a:solidFill>
                  <a:srgbClr val="F4F0EA"/>
                </a:solidFill>
                <a:latin typeface="Aptos"/>
                <a:ea typeface="Aptos"/>
                <a:cs typeface="Aptos"/>
              </a:rPr>
              <a:t>Catalog, stock, orders and communications have separate responsibilities.</a:t>
            </a:r>
          </a:p>
        </p:txBody>
      </p:sp>
      <p:sp>
        <p:nvSpPr>
          <p:cNvPr id="6" name="">
            <a:extLst xmlns:a="http://schemas.openxmlformats.org/drawingml/2006/main">
              <a:ext uri="{FF2B5EF4-FFF2-40B4-BE49-F238E27FC236}">
                <a16:creationId xmlns:a16="http://schemas.microsoft.com/office/drawing/2014/main" id="{32C748DE-570C-4496-9C77-29DA890A30A5}"/>
              </a:ext>
            </a:extLst>
          </p:cNvPr>
          <p:cNvSpPr>
            <a:spLocks xmlns:a="http://schemas.openxmlformats.org/drawingml/2006/main" noGrp="1"/>
          </p:cNvSpPr>
          <p:nvPr/>
        </p:nvSpPr>
        <p:spPr>
          <a:xfrm xmlns:a="http://schemas.openxmlformats.org/drawingml/2006/main">
            <a:off x="685800" y="47625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6A9ED"/>
                </a:solidFill>
                <a:latin typeface="Aptos"/>
                <a:ea typeface="Aptos"/>
                <a:cs typeface="Aptos"/>
              </a:defRPr>
            </a:pPr>
            <a:r>
              <a:rPr sz="2400" b="1">
                <a:solidFill>
                  <a:srgbClr val="B6A9ED"/>
                </a:solidFill>
                <a:latin typeface="Aptos"/>
                <a:ea typeface="Aptos"/>
                <a:cs typeface="Aptos"/>
              </a:rPr>
              <a:t>A reusable platform demonstration</a:t>
            </a:r>
          </a:p>
        </p:txBody>
      </p:sp>
      <p:sp>
        <p:nvSpPr>
          <p:cNvPr id="7" name="">
            <a:extLst xmlns:a="http://schemas.openxmlformats.org/drawingml/2006/main">
              <a:ext uri="{FF2B5EF4-FFF2-40B4-BE49-F238E27FC236}">
                <a16:creationId xmlns:a16="http://schemas.microsoft.com/office/drawing/2014/main" id="{92F1B7F9-9CD8-4653-BA0E-A12A190D7978}"/>
              </a:ext>
            </a:extLst>
          </p:cNvPr>
          <p:cNvSpPr>
            <a:spLocks xmlns:a="http://schemas.openxmlformats.org/drawingml/2006/main" noGrp="1"/>
          </p:cNvSpPr>
          <p:nvPr/>
        </p:nvSpPr>
        <p:spPr>
          <a:xfrm xmlns:a="http://schemas.openxmlformats.org/drawingml/2006/main">
            <a:off x="685800" y="5324475"/>
            <a:ext cx="10363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4F0EA"/>
                </a:solidFill>
                <a:latin typeface="Aptos"/>
                <a:ea typeface="Aptos"/>
                <a:cs typeface="Aptos"/>
              </a:defRPr>
            </a:pPr>
            <a:r>
              <a:rPr sz="2100" b="0">
                <a:solidFill>
                  <a:srgbClr val="F4F0EA"/>
                </a:solidFill>
                <a:latin typeface="Aptos"/>
                <a:ea typeface="Aptos"/>
                <a:cs typeface="Aptos"/>
              </a:rPr>
              <a:t>The scenario is fictional. The AWS integration and email delivery are real.</a:t>
            </a:r>
          </a:p>
        </p:txBody>
      </p:sp>
    </p:spTree>
    <p:extLst>
      <p:ext uri="{BB962C8B-B14F-4D97-AF65-F5344CB8AC3E}">
        <p14:creationId xmlns:p14="http://schemas.microsoft.com/office/powerpoint/2010/main" val="1525513529"/>
      </p:ext>
    </p:extLst>
  </p:cSld>
</p:sld>
</file>

<file path=ppt/slides/slide3.xml><?xml version="1.0" encoding="utf-8"?>
<p:sld xmlns:p="http://schemas.openxmlformats.org/presentationml/2006/main">
  <p:cSld>
    <p:bg>
      <p:bgPr>
        <a:solidFill xmlns:a="http://schemas.openxmlformats.org/drawingml/2006/main">
          <a:srgbClr val="1117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92ECBF0-3A34-410A-A76A-E03D3A7A38D4}"/>
              </a:ext>
            </a:extLst>
          </p:cNvPr>
          <p:cNvSpPr>
            <a:spLocks xmlns:a="http://schemas.openxmlformats.org/drawingml/2006/main" noGrp="1"/>
          </p:cNvSpPr>
          <p:nvPr/>
        </p:nvSpPr>
        <p:spPr>
          <a:xfrm xmlns:a="http://schemas.openxmlformats.org/drawingml/2006/main">
            <a:off x="685800" y="4953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A"/>
                </a:solidFill>
                <a:latin typeface="Aptos"/>
                <a:ea typeface="Aptos"/>
                <a:cs typeface="Aptos"/>
              </a:defRPr>
            </a:pPr>
            <a:r>
              <a:rPr sz="3300" b="1">
                <a:solidFill>
                  <a:srgbClr val="F4F0EA"/>
                </a:solidFill>
                <a:latin typeface="Aptos"/>
                <a:ea typeface="Aptos"/>
                <a:cs typeface="Aptos"/>
              </a:rPr>
              <a:t>Customer demonstration</a:t>
            </a:r>
          </a:p>
        </p:txBody>
      </p:sp>
      <p:sp>
        <p:nvSpPr>
          <p:cNvPr id="2" name="">
            <a:extLst xmlns:a="http://schemas.openxmlformats.org/drawingml/2006/main">
              <a:ext uri="{FF2B5EF4-FFF2-40B4-BE49-F238E27FC236}">
                <a16:creationId xmlns:a16="http://schemas.microsoft.com/office/drawing/2014/main" id="{42967210-FAF9-4E4D-AD47-16349F5F9290}"/>
              </a:ext>
            </a:extLst>
          </p:cNvPr>
          <p:cNvSpPr>
            <a:spLocks xmlns:a="http://schemas.openxmlformats.org/drawingml/2006/main" noGrp="1"/>
          </p:cNvSpPr>
          <p:nvPr/>
        </p:nvSpPr>
        <p:spPr>
          <a:xfrm xmlns:a="http://schemas.openxmlformats.org/drawingml/2006/main">
            <a:off x="685800" y="176212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B6A9ED"/>
                </a:solidFill>
                <a:latin typeface="Aptos"/>
                <a:ea typeface="Aptos"/>
                <a:cs typeface="Aptos"/>
              </a:defRPr>
            </a:pPr>
            <a:r>
              <a:rPr sz="4350" b="1">
                <a:solidFill>
                  <a:srgbClr val="B6A9ED"/>
                </a:solidFill>
                <a:latin typeface="Aptos"/>
                <a:ea typeface="Aptos"/>
                <a:cs typeface="Aptos"/>
              </a:rPr>
              <a:t>1</a:t>
            </a:r>
          </a:p>
        </p:txBody>
      </p:sp>
      <p:sp>
        <p:nvSpPr>
          <p:cNvPr id="3" name="">
            <a:extLst xmlns:a="http://schemas.openxmlformats.org/drawingml/2006/main">
              <a:ext uri="{FF2B5EF4-FFF2-40B4-BE49-F238E27FC236}">
                <a16:creationId xmlns:a16="http://schemas.microsoft.com/office/drawing/2014/main" id="{C3C299AF-AEC2-4D32-90F1-6FBB3AF4FA3D}"/>
              </a:ext>
            </a:extLst>
          </p:cNvPr>
          <p:cNvSpPr>
            <a:spLocks xmlns:a="http://schemas.openxmlformats.org/drawingml/2006/main" noGrp="1"/>
          </p:cNvSpPr>
          <p:nvPr/>
        </p:nvSpPr>
        <p:spPr>
          <a:xfrm xmlns:a="http://schemas.openxmlformats.org/drawingml/2006/main">
            <a:off x="1885950" y="1838325"/>
            <a:ext cx="895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4F0EA"/>
                </a:solidFill>
                <a:latin typeface="Aptos"/>
                <a:ea typeface="Aptos"/>
                <a:cs typeface="Aptos"/>
              </a:defRPr>
            </a:pPr>
            <a:r>
              <a:rPr sz="2700" b="1">
                <a:solidFill>
                  <a:srgbClr val="F4F0EA"/>
                </a:solidFill>
                <a:latin typeface="Aptos"/>
                <a:ea typeface="Aptos"/>
                <a:cs typeface="Aptos"/>
              </a:rPr>
              <a:t>Browse and compare</a:t>
            </a:r>
          </a:p>
        </p:txBody>
      </p:sp>
      <p:sp>
        <p:nvSpPr>
          <p:cNvPr id="4" name="">
            <a:extLst xmlns:a="http://schemas.openxmlformats.org/drawingml/2006/main">
              <a:ext uri="{FF2B5EF4-FFF2-40B4-BE49-F238E27FC236}">
                <a16:creationId xmlns:a16="http://schemas.microsoft.com/office/drawing/2014/main" id="{87035DD8-A4D2-439D-80D3-87556E079292}"/>
              </a:ext>
            </a:extLst>
          </p:cNvPr>
          <p:cNvSpPr>
            <a:spLocks xmlns:a="http://schemas.openxmlformats.org/drawingml/2006/main" noGrp="1"/>
          </p:cNvSpPr>
          <p:nvPr/>
        </p:nvSpPr>
        <p:spPr>
          <a:xfrm xmlns:a="http://schemas.openxmlformats.org/drawingml/2006/main">
            <a:off x="1885950" y="2476500"/>
            <a:ext cx="914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AC2D5"/>
                </a:solidFill>
                <a:latin typeface="Aptos"/>
                <a:ea typeface="Aptos"/>
                <a:cs typeface="Aptos"/>
              </a:defRPr>
            </a:pPr>
            <a:r>
              <a:rPr sz="2025" b="0">
                <a:solidFill>
                  <a:srgbClr val="BAC2D5"/>
                </a:solidFill>
                <a:latin typeface="Aptos"/>
                <a:ea typeface="Aptos"/>
                <a:cs typeface="Aptos"/>
              </a:rPr>
              <a:t>Catalog prices and seat availability come from backend services.</a:t>
            </a:r>
          </a:p>
        </p:txBody>
      </p:sp>
      <p:sp>
        <p:nvSpPr>
          <p:cNvPr id="5" name="">
            <a:extLst xmlns:a="http://schemas.openxmlformats.org/drawingml/2006/main">
              <a:ext uri="{FF2B5EF4-FFF2-40B4-BE49-F238E27FC236}">
                <a16:creationId xmlns:a16="http://schemas.microsoft.com/office/drawing/2014/main" id="{D28919C2-1930-48A4-B7EA-43EA80822FB8}"/>
              </a:ext>
            </a:extLst>
          </p:cNvPr>
          <p:cNvSpPr>
            <a:spLocks xmlns:a="http://schemas.openxmlformats.org/drawingml/2006/main" noGrp="1"/>
          </p:cNvSpPr>
          <p:nvPr/>
        </p:nvSpPr>
        <p:spPr>
          <a:xfrm xmlns:a="http://schemas.openxmlformats.org/drawingml/2006/main">
            <a:off x="685800" y="3257550"/>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B6A9ED"/>
                </a:solidFill>
                <a:latin typeface="Aptos"/>
                <a:ea typeface="Aptos"/>
                <a:cs typeface="Aptos"/>
              </a:defRPr>
            </a:pPr>
            <a:r>
              <a:rPr sz="4350" b="1">
                <a:solidFill>
                  <a:srgbClr val="B6A9ED"/>
                </a:solidFill>
                <a:latin typeface="Aptos"/>
                <a:ea typeface="Aptos"/>
                <a:cs typeface="Aptos"/>
              </a:rPr>
              <a:t>2</a:t>
            </a:r>
          </a:p>
        </p:txBody>
      </p:sp>
      <p:sp>
        <p:nvSpPr>
          <p:cNvPr id="6" name="">
            <a:extLst xmlns:a="http://schemas.openxmlformats.org/drawingml/2006/main">
              <a:ext uri="{FF2B5EF4-FFF2-40B4-BE49-F238E27FC236}">
                <a16:creationId xmlns:a16="http://schemas.microsoft.com/office/drawing/2014/main" id="{2429470E-E4D5-41D3-B814-0EC0F381AE93}"/>
              </a:ext>
            </a:extLst>
          </p:cNvPr>
          <p:cNvSpPr>
            <a:spLocks xmlns:a="http://schemas.openxmlformats.org/drawingml/2006/main" noGrp="1"/>
          </p:cNvSpPr>
          <p:nvPr/>
        </p:nvSpPr>
        <p:spPr>
          <a:xfrm xmlns:a="http://schemas.openxmlformats.org/drawingml/2006/main">
            <a:off x="1885950" y="3333750"/>
            <a:ext cx="895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4F0EA"/>
                </a:solidFill>
                <a:latin typeface="Aptos"/>
                <a:ea typeface="Aptos"/>
                <a:cs typeface="Aptos"/>
              </a:defRPr>
            </a:pPr>
            <a:r>
              <a:rPr sz="2700" b="1">
                <a:solidFill>
                  <a:srgbClr val="F4F0EA"/>
                </a:solidFill>
                <a:latin typeface="Aptos"/>
                <a:ea typeface="Aptos"/>
                <a:cs typeface="Aptos"/>
              </a:rPr>
              <a:t>Reserve one available seat</a:t>
            </a:r>
          </a:p>
        </p:txBody>
      </p:sp>
      <p:sp>
        <p:nvSpPr>
          <p:cNvPr id="7" name="">
            <a:extLst xmlns:a="http://schemas.openxmlformats.org/drawingml/2006/main">
              <a:ext uri="{FF2B5EF4-FFF2-40B4-BE49-F238E27FC236}">
                <a16:creationId xmlns:a16="http://schemas.microsoft.com/office/drawing/2014/main" id="{B1F62F3B-85ED-4366-A62E-D07557AE8D96}"/>
              </a:ext>
            </a:extLst>
          </p:cNvPr>
          <p:cNvSpPr>
            <a:spLocks xmlns:a="http://schemas.openxmlformats.org/drawingml/2006/main" noGrp="1"/>
          </p:cNvSpPr>
          <p:nvPr/>
        </p:nvSpPr>
        <p:spPr>
          <a:xfrm xmlns:a="http://schemas.openxmlformats.org/drawingml/2006/main">
            <a:off x="1885950" y="3971925"/>
            <a:ext cx="914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AC2D5"/>
                </a:solidFill>
                <a:latin typeface="Aptos"/>
                <a:ea typeface="Aptos"/>
                <a:cs typeface="Aptos"/>
              </a:defRPr>
            </a:pPr>
            <a:r>
              <a:rPr sz="2025" b="0">
                <a:solidFill>
                  <a:srgbClr val="BAC2D5"/>
                </a:solidFill>
                <a:latin typeface="Aptos"/>
                <a:ea typeface="Aptos"/>
                <a:cs typeface="Aptos"/>
              </a:rPr>
              <a:t>The backend validates price, stock and the verified email session.</a:t>
            </a:r>
          </a:p>
        </p:txBody>
      </p:sp>
      <p:sp>
        <p:nvSpPr>
          <p:cNvPr id="8" name="">
            <a:extLst xmlns:a="http://schemas.openxmlformats.org/drawingml/2006/main">
              <a:ext uri="{FF2B5EF4-FFF2-40B4-BE49-F238E27FC236}">
                <a16:creationId xmlns:a16="http://schemas.microsoft.com/office/drawing/2014/main" id="{C3E9BF72-2FC1-455B-B33A-10BE2B43C358}"/>
              </a:ext>
            </a:extLst>
          </p:cNvPr>
          <p:cNvSpPr>
            <a:spLocks xmlns:a="http://schemas.openxmlformats.org/drawingml/2006/main" noGrp="1"/>
          </p:cNvSpPr>
          <p:nvPr/>
        </p:nvSpPr>
        <p:spPr>
          <a:xfrm xmlns:a="http://schemas.openxmlformats.org/drawingml/2006/main">
            <a:off x="685800" y="475297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B6A9ED"/>
                </a:solidFill>
                <a:latin typeface="Aptos"/>
                <a:ea typeface="Aptos"/>
                <a:cs typeface="Aptos"/>
              </a:defRPr>
            </a:pPr>
            <a:r>
              <a:rPr sz="4350" b="1">
                <a:solidFill>
                  <a:srgbClr val="B6A9ED"/>
                </a:solidFill>
                <a:latin typeface="Aptos"/>
                <a:ea typeface="Aptos"/>
                <a:cs typeface="Aptos"/>
              </a:rPr>
              <a:t>3</a:t>
            </a:r>
          </a:p>
        </p:txBody>
      </p:sp>
      <p:sp>
        <p:nvSpPr>
          <p:cNvPr id="9" name="">
            <a:extLst xmlns:a="http://schemas.openxmlformats.org/drawingml/2006/main">
              <a:ext uri="{FF2B5EF4-FFF2-40B4-BE49-F238E27FC236}">
                <a16:creationId xmlns:a16="http://schemas.microsoft.com/office/drawing/2014/main" id="{8F413968-5CF7-49B6-870A-5AF0238219B9}"/>
              </a:ext>
            </a:extLst>
          </p:cNvPr>
          <p:cNvSpPr>
            <a:spLocks xmlns:a="http://schemas.openxmlformats.org/drawingml/2006/main" noGrp="1"/>
          </p:cNvSpPr>
          <p:nvPr/>
        </p:nvSpPr>
        <p:spPr>
          <a:xfrm xmlns:a="http://schemas.openxmlformats.org/drawingml/2006/main">
            <a:off x="1885950" y="4829175"/>
            <a:ext cx="895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4F0EA"/>
                </a:solidFill>
                <a:latin typeface="Aptos"/>
                <a:ea typeface="Aptos"/>
                <a:cs typeface="Aptos"/>
              </a:defRPr>
            </a:pPr>
            <a:r>
              <a:rPr sz="2700" b="1">
                <a:solidFill>
                  <a:srgbClr val="F4F0EA"/>
                </a:solidFill>
                <a:latin typeface="Aptos"/>
                <a:ea typeface="Aptos"/>
                <a:cs typeface="Aptos"/>
              </a:rPr>
              <a:t>Show the reservation email</a:t>
            </a:r>
          </a:p>
        </p:txBody>
      </p:sp>
      <p:sp>
        <p:nvSpPr>
          <p:cNvPr id="10" name="">
            <a:extLst xmlns:a="http://schemas.openxmlformats.org/drawingml/2006/main">
              <a:ext uri="{FF2B5EF4-FFF2-40B4-BE49-F238E27FC236}">
                <a16:creationId xmlns:a16="http://schemas.microsoft.com/office/drawing/2014/main" id="{7C78ED40-BCF3-4260-B57A-BADBD6FFDF8D}"/>
              </a:ext>
            </a:extLst>
          </p:cNvPr>
          <p:cNvSpPr>
            <a:spLocks xmlns:a="http://schemas.openxmlformats.org/drawingml/2006/main" noGrp="1"/>
          </p:cNvSpPr>
          <p:nvPr/>
        </p:nvSpPr>
        <p:spPr>
          <a:xfrm xmlns:a="http://schemas.openxmlformats.org/drawingml/2006/main">
            <a:off x="1885950" y="5467350"/>
            <a:ext cx="914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AC2D5"/>
                </a:solidFill>
                <a:latin typeface="Aptos"/>
                <a:ea typeface="Aptos"/>
                <a:cs typeface="Aptos"/>
              </a:defRPr>
            </a:pPr>
            <a:r>
              <a:rPr sz="2025" b="0">
                <a:solidFill>
                  <a:srgbClr val="BAC2D5"/>
                </a:solidFill>
                <a:latin typeface="Aptos"/>
                <a:ea typeface="Aptos"/>
                <a:cs typeface="Aptos"/>
              </a:rPr>
              <a:t>Delivery runs independently after the order confirmation.</a:t>
            </a:r>
          </a:p>
        </p:txBody>
      </p:sp>
    </p:spTree>
    <p:extLst>
      <p:ext uri="{BB962C8B-B14F-4D97-AF65-F5344CB8AC3E}">
        <p14:creationId xmlns:p14="http://schemas.microsoft.com/office/powerpoint/2010/main" val="565854971"/>
      </p:ext>
    </p:extLst>
  </p:cSld>
</p:sld>
</file>

<file path=ppt/slides/slide4.xml><?xml version="1.0" encoding="utf-8"?>
<p:sld xmlns:p="http://schemas.openxmlformats.org/presentationml/2006/main">
  <p:cSld>
    <p:bg>
      <p:bgPr>
        <a:solidFill xmlns:a="http://schemas.openxmlformats.org/drawingml/2006/main">
          <a:srgbClr val="11172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32F2123-EC84-4AD1-85F4-CC17F25D831A}"/>
              </a:ext>
            </a:extLst>
          </p:cNvPr>
          <p:cNvSpPr>
            <a:spLocks xmlns:a="http://schemas.openxmlformats.org/drawingml/2006/main" noGrp="1"/>
          </p:cNvSpPr>
          <p:nvPr/>
        </p:nvSpPr>
        <p:spPr>
          <a:xfrm xmlns:a="http://schemas.openxmlformats.org/drawingml/2006/main">
            <a:off x="685800" y="4953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A"/>
                </a:solidFill>
                <a:latin typeface="Aptos"/>
                <a:ea typeface="Aptos"/>
                <a:cs typeface="Aptos"/>
              </a:defRPr>
            </a:pPr>
            <a:r>
              <a:rPr sz="3300" b="1">
                <a:solidFill>
                  <a:srgbClr val="F4F0EA"/>
                </a:solidFill>
                <a:latin typeface="Aptos"/>
                <a:ea typeface="Aptos"/>
                <a:cs typeface="Aptos"/>
              </a:rPr>
              <a:t>Application architecture</a:t>
            </a:r>
          </a:p>
        </p:txBody>
      </p:sp>
      <p:sp>
        <p:nvSpPr>
          <p:cNvPr id="2" name="">
            <a:extLst xmlns:a="http://schemas.openxmlformats.org/drawingml/2006/main">
              <a:ext uri="{FF2B5EF4-FFF2-40B4-BE49-F238E27FC236}">
                <a16:creationId xmlns:a16="http://schemas.microsoft.com/office/drawing/2014/main" id="{DC376929-6931-4881-8E52-3C61F4DD9E1D}"/>
              </a:ext>
            </a:extLst>
          </p:cNvPr>
          <p:cNvSpPr>
            <a:spLocks xmlns:a="http://schemas.openxmlformats.org/drawingml/2006/main" noGrp="1"/>
          </p:cNvSpPr>
          <p:nvPr/>
        </p:nvSpPr>
        <p:spPr>
          <a:xfrm xmlns:a="http://schemas.openxmlformats.org/drawingml/2006/main">
            <a:off x="685800" y="1685925"/>
            <a:ext cx="1952625" cy="68580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Browser</a:t>
            </a:r>
          </a:p>
        </p:txBody>
      </p:sp>
      <p:sp>
        <p:nvSpPr>
          <p:cNvPr id="3" name="">
            <a:extLst xmlns:a="http://schemas.openxmlformats.org/drawingml/2006/main">
              <a:ext uri="{FF2B5EF4-FFF2-40B4-BE49-F238E27FC236}">
                <a16:creationId xmlns:a16="http://schemas.microsoft.com/office/drawing/2014/main" id="{8E75951F-833D-4675-976F-2260681B9C4F}"/>
              </a:ext>
            </a:extLst>
          </p:cNvPr>
          <p:cNvSpPr>
            <a:spLocks xmlns:a="http://schemas.openxmlformats.org/drawingml/2006/main" noGrp="1"/>
          </p:cNvSpPr>
          <p:nvPr/>
        </p:nvSpPr>
        <p:spPr>
          <a:xfrm xmlns:a="http://schemas.openxmlformats.org/drawingml/2006/main">
            <a:off x="3533775" y="1685925"/>
            <a:ext cx="2095500" cy="68580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ALB + ACM</a:t>
            </a:r>
          </a:p>
        </p:txBody>
      </p:sp>
      <p:sp>
        <p:nvSpPr>
          <p:cNvPr id="4" name="">
            <a:extLst xmlns:a="http://schemas.openxmlformats.org/drawingml/2006/main">
              <a:ext uri="{FF2B5EF4-FFF2-40B4-BE49-F238E27FC236}">
                <a16:creationId xmlns:a16="http://schemas.microsoft.com/office/drawing/2014/main" id="{AAEEADEF-7170-4FF0-B95E-FAD406C5B0F3}"/>
              </a:ext>
            </a:extLst>
          </p:cNvPr>
          <p:cNvSpPr>
            <a:spLocks xmlns:a="http://schemas.openxmlformats.org/drawingml/2006/main" noGrp="1"/>
          </p:cNvSpPr>
          <p:nvPr/>
        </p:nvSpPr>
        <p:spPr>
          <a:xfrm xmlns:a="http://schemas.openxmlformats.org/drawingml/2006/main">
            <a:off x="6572250" y="1685925"/>
            <a:ext cx="2381250" cy="68580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Storefront</a:t>
            </a:r>
          </a:p>
        </p:txBody>
      </p:sp>
      <p:cxnSp>
        <p:nvCxnSpPr>
          <p:cNvPr id="25" name=""/>
          <p:cNvCxnSpPr>
            <a:stCxn xmlns:a="http://schemas.openxmlformats.org/drawingml/2006/main" id="2" idx="3"/>
            <a:endCxn xmlns:a="http://schemas.openxmlformats.org/drawingml/2006/main" id="3" idx="1"/>
          </p:cNvCxnSpPr>
          <p:nvPr/>
        </p:nvCxnSpPr>
        <p:spPr>
          <a:xfrm xmlns:a="http://schemas.openxmlformats.org/drawingml/2006/main">
            <a:off x="2638425" y="2028825"/>
            <a:ext cx="895350" cy="0"/>
          </a:xfrm>
          <a:prstGeom xmlns:a="http://schemas.openxmlformats.org/drawingml/2006/main" prst="straightConnector1">
            <a:avLst/>
          </a:prstGeom>
          <a:ln xmlns:a="http://schemas.openxmlformats.org/drawingml/2006/main" w="19050">
            <a:solidFill>
              <a:srgbClr val="87CDE5"/>
            </a:solidFill>
            <a:tailEnd type="triangle" w="med" len="med"/>
          </a:ln>
        </p:spPr>
      </p:cxnSp>
      <p:cxnSp>
        <p:nvCxnSpPr>
          <p:cNvPr id="26" name=""/>
          <p:cNvCxnSpPr>
            <a:stCxn xmlns:a="http://schemas.openxmlformats.org/drawingml/2006/main" id="3" idx="3"/>
            <a:endCxn xmlns:a="http://schemas.openxmlformats.org/drawingml/2006/main" id="4" idx="1"/>
          </p:cNvCxnSpPr>
          <p:nvPr/>
        </p:nvCxnSpPr>
        <p:spPr>
          <a:xfrm xmlns:a="http://schemas.openxmlformats.org/drawingml/2006/main">
            <a:off x="5629275" y="2028825"/>
            <a:ext cx="942975" cy="0"/>
          </a:xfrm>
          <a:prstGeom xmlns:a="http://schemas.openxmlformats.org/drawingml/2006/main" prst="straightConnector1">
            <a:avLst/>
          </a:prstGeom>
          <a:ln xmlns:a="http://schemas.openxmlformats.org/drawingml/2006/main" w="19050">
            <a:solidFill>
              <a:srgbClr val="87CDE5"/>
            </a:solidFill>
            <a:tailEnd type="triangle" w="med" len="med"/>
          </a:ln>
        </p:spPr>
      </p:cxnSp>
      <p:sp>
        <p:nvSpPr>
          <p:cNvPr id="7" name="">
            <a:extLst xmlns:a="http://schemas.openxmlformats.org/drawingml/2006/main">
              <a:ext uri="{FF2B5EF4-FFF2-40B4-BE49-F238E27FC236}">
                <a16:creationId xmlns:a16="http://schemas.microsoft.com/office/drawing/2014/main" id="{3000BC59-B1E8-40EF-98D6-E5685904ACA8}"/>
              </a:ext>
            </a:extLst>
          </p:cNvPr>
          <p:cNvSpPr>
            <a:spLocks xmlns:a="http://schemas.openxmlformats.org/drawingml/2006/main" noGrp="1"/>
          </p:cNvSpPr>
          <p:nvPr/>
        </p:nvSpPr>
        <p:spPr>
          <a:xfrm xmlns:a="http://schemas.openxmlformats.org/drawingml/2006/main">
            <a:off x="685800" y="1257300"/>
            <a:ext cx="895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AC2D5"/>
                </a:solidFill>
                <a:latin typeface="Aptos"/>
                <a:ea typeface="Aptos"/>
                <a:cs typeface="Aptos"/>
              </a:defRPr>
            </a:pPr>
            <a:r>
              <a:rPr sz="1725" b="0">
                <a:solidFill>
                  <a:srgbClr val="BAC2D5"/>
                </a:solidFill>
                <a:latin typeface="Aptos"/>
                <a:ea typeface="Aptos"/>
                <a:cs typeface="Aptos"/>
              </a:rPr>
              <a:t>Route 53 resolves the hostname</a:t>
            </a:r>
          </a:p>
        </p:txBody>
      </p:sp>
      <p:sp>
        <p:nvSpPr>
          <p:cNvPr id="8" name="">
            <a:extLst xmlns:a="http://schemas.openxmlformats.org/drawingml/2006/main">
              <a:ext uri="{FF2B5EF4-FFF2-40B4-BE49-F238E27FC236}">
                <a16:creationId xmlns:a16="http://schemas.microsoft.com/office/drawing/2014/main" id="{42F22003-5DFF-4A65-A23C-3D0D0AA6D809}"/>
              </a:ext>
            </a:extLst>
          </p:cNvPr>
          <p:cNvSpPr>
            <a:spLocks xmlns:a="http://schemas.openxmlformats.org/drawingml/2006/main" noGrp="1"/>
          </p:cNvSpPr>
          <p:nvPr/>
        </p:nvSpPr>
        <p:spPr>
          <a:xfrm xmlns:a="http://schemas.openxmlformats.org/drawingml/2006/main">
            <a:off x="1714500" y="3295650"/>
            <a:ext cx="2047875" cy="7048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Product</a:t>
            </a:r>
          </a:p>
        </p:txBody>
      </p:sp>
      <p:sp>
        <p:nvSpPr>
          <p:cNvPr id="9" name="">
            <a:extLst xmlns:a="http://schemas.openxmlformats.org/drawingml/2006/main">
              <a:ext uri="{FF2B5EF4-FFF2-40B4-BE49-F238E27FC236}">
                <a16:creationId xmlns:a16="http://schemas.microsoft.com/office/drawing/2014/main" id="{9907D9A0-B132-4608-8ADC-6DB69D8AF936}"/>
              </a:ext>
            </a:extLst>
          </p:cNvPr>
          <p:cNvSpPr>
            <a:spLocks xmlns:a="http://schemas.openxmlformats.org/drawingml/2006/main" noGrp="1"/>
          </p:cNvSpPr>
          <p:nvPr/>
        </p:nvSpPr>
        <p:spPr>
          <a:xfrm xmlns:a="http://schemas.openxmlformats.org/drawingml/2006/main">
            <a:off x="5095875" y="3295650"/>
            <a:ext cx="2047875" cy="7048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Inventory</a:t>
            </a:r>
          </a:p>
        </p:txBody>
      </p:sp>
      <p:sp>
        <p:nvSpPr>
          <p:cNvPr id="10" name="">
            <a:extLst xmlns:a="http://schemas.openxmlformats.org/drawingml/2006/main">
              <a:ext uri="{FF2B5EF4-FFF2-40B4-BE49-F238E27FC236}">
                <a16:creationId xmlns:a16="http://schemas.microsoft.com/office/drawing/2014/main" id="{13BE69F9-7784-4CFD-9C0B-A09540B2BDF0}"/>
              </a:ext>
            </a:extLst>
          </p:cNvPr>
          <p:cNvSpPr>
            <a:spLocks xmlns:a="http://schemas.openxmlformats.org/drawingml/2006/main" noGrp="1"/>
          </p:cNvSpPr>
          <p:nvPr/>
        </p:nvSpPr>
        <p:spPr>
          <a:xfrm xmlns:a="http://schemas.openxmlformats.org/drawingml/2006/main">
            <a:off x="8524875" y="3295650"/>
            <a:ext cx="2047875" cy="7048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Order</a:t>
            </a:r>
          </a:p>
        </p:txBody>
      </p:sp>
      <p:cxnSp>
        <p:nvCxnSpPr>
          <p:cNvPr id="31" name=""/>
          <p:cNvCxnSpPr>
            <a:stCxn xmlns:a="http://schemas.openxmlformats.org/drawingml/2006/main" id="4" idx="2"/>
            <a:endCxn xmlns:a="http://schemas.openxmlformats.org/drawingml/2006/main" id="8" idx="0"/>
          </p:cNvCxnSpPr>
          <p:nvPr/>
        </p:nvCxnSpPr>
        <p:spPr>
          <a:xfrm xmlns:a="http://schemas.openxmlformats.org/drawingml/2006/main" flipH="1">
            <a:off x="2738438" y="2371725"/>
            <a:ext cx="5024438" cy="923925"/>
          </a:xfrm>
          <a:prstGeom xmlns:a="http://schemas.openxmlformats.org/drawingml/2006/main" prst="straightConnector1">
            <a:avLst/>
          </a:prstGeom>
          <a:ln xmlns:a="http://schemas.openxmlformats.org/drawingml/2006/main" w="19050">
            <a:solidFill>
              <a:srgbClr val="87CDE5"/>
            </a:solidFill>
            <a:tailEnd type="triangle" w="med" len="med"/>
          </a:ln>
        </p:spPr>
      </p:cxnSp>
      <p:cxnSp>
        <p:nvCxnSpPr>
          <p:cNvPr id="32" name=""/>
          <p:cNvCxnSpPr>
            <a:stCxn xmlns:a="http://schemas.openxmlformats.org/drawingml/2006/main" id="4" idx="2"/>
            <a:endCxn xmlns:a="http://schemas.openxmlformats.org/drawingml/2006/main" id="9" idx="0"/>
          </p:cNvCxnSpPr>
          <p:nvPr/>
        </p:nvCxnSpPr>
        <p:spPr>
          <a:xfrm xmlns:a="http://schemas.openxmlformats.org/drawingml/2006/main" flipH="1">
            <a:off x="6119813" y="2371725"/>
            <a:ext cx="1643063" cy="923925"/>
          </a:xfrm>
          <a:prstGeom xmlns:a="http://schemas.openxmlformats.org/drawingml/2006/main" prst="straightConnector1">
            <a:avLst/>
          </a:prstGeom>
          <a:ln xmlns:a="http://schemas.openxmlformats.org/drawingml/2006/main" w="19050">
            <a:solidFill>
              <a:srgbClr val="87CDE5"/>
            </a:solidFill>
            <a:tailEnd type="triangle" w="med" len="med"/>
          </a:ln>
        </p:spPr>
      </p:cxnSp>
      <p:cxnSp>
        <p:nvCxnSpPr>
          <p:cNvPr id="33" name=""/>
          <p:cNvCxnSpPr>
            <a:stCxn xmlns:a="http://schemas.openxmlformats.org/drawingml/2006/main" id="4" idx="2"/>
            <a:endCxn xmlns:a="http://schemas.openxmlformats.org/drawingml/2006/main" id="10" idx="0"/>
          </p:cNvCxnSpPr>
          <p:nvPr/>
        </p:nvCxnSpPr>
        <p:spPr>
          <a:xfrm xmlns:a="http://schemas.openxmlformats.org/drawingml/2006/main">
            <a:off x="7762875" y="2371725"/>
            <a:ext cx="1785938" cy="923925"/>
          </a:xfrm>
          <a:prstGeom xmlns:a="http://schemas.openxmlformats.org/drawingml/2006/main" prst="straightConnector1">
            <a:avLst/>
          </a:prstGeom>
          <a:ln xmlns:a="http://schemas.openxmlformats.org/drawingml/2006/main" w="19050">
            <a:solidFill>
              <a:srgbClr val="87CDE5"/>
            </a:solidFill>
            <a:tailEnd type="triangle" w="med" len="med"/>
          </a:ln>
        </p:spPr>
      </p:cxnSp>
      <p:sp>
        <p:nvSpPr>
          <p:cNvPr id="14" name="">
            <a:extLst xmlns:a="http://schemas.openxmlformats.org/drawingml/2006/main">
              <a:ext uri="{FF2B5EF4-FFF2-40B4-BE49-F238E27FC236}">
                <a16:creationId xmlns:a16="http://schemas.microsoft.com/office/drawing/2014/main" id="{F30572A8-5597-4153-B244-9594FF3B0B5E}"/>
              </a:ext>
            </a:extLst>
          </p:cNvPr>
          <p:cNvSpPr>
            <a:spLocks xmlns:a="http://schemas.openxmlformats.org/drawingml/2006/main" noGrp="1"/>
          </p:cNvSpPr>
          <p:nvPr/>
        </p:nvSpPr>
        <p:spPr>
          <a:xfrm xmlns:a="http://schemas.openxmlformats.org/drawingml/2006/main">
            <a:off x="1714500" y="4857750"/>
            <a:ext cx="2047875" cy="7048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Valkey cache</a:t>
            </a:r>
          </a:p>
        </p:txBody>
      </p:sp>
      <p:sp>
        <p:nvSpPr>
          <p:cNvPr id="15" name="">
            <a:extLst xmlns:a="http://schemas.openxmlformats.org/drawingml/2006/main">
              <a:ext uri="{FF2B5EF4-FFF2-40B4-BE49-F238E27FC236}">
                <a16:creationId xmlns:a16="http://schemas.microsoft.com/office/drawing/2014/main" id="{00FFDF99-DD29-4DD9-A84C-CA379130235D}"/>
              </a:ext>
            </a:extLst>
          </p:cNvPr>
          <p:cNvSpPr>
            <a:spLocks xmlns:a="http://schemas.openxmlformats.org/drawingml/2006/main" noGrp="1"/>
          </p:cNvSpPr>
          <p:nvPr/>
        </p:nvSpPr>
        <p:spPr>
          <a:xfrm xmlns:a="http://schemas.openxmlformats.org/drawingml/2006/main">
            <a:off x="5095875" y="4857750"/>
            <a:ext cx="2047875" cy="7048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DynamoDB</a:t>
            </a:r>
          </a:p>
        </p:txBody>
      </p:sp>
      <p:sp>
        <p:nvSpPr>
          <p:cNvPr id="16" name="">
            <a:extLst xmlns:a="http://schemas.openxmlformats.org/drawingml/2006/main">
              <a:ext uri="{FF2B5EF4-FFF2-40B4-BE49-F238E27FC236}">
                <a16:creationId xmlns:a16="http://schemas.microsoft.com/office/drawing/2014/main" id="{1B940FB3-098D-43B1-B538-4E2B9B237B57}"/>
              </a:ext>
            </a:extLst>
          </p:cNvPr>
          <p:cNvSpPr>
            <a:spLocks xmlns:a="http://schemas.openxmlformats.org/drawingml/2006/main" noGrp="1"/>
          </p:cNvSpPr>
          <p:nvPr/>
        </p:nvSpPr>
        <p:spPr>
          <a:xfrm xmlns:a="http://schemas.openxmlformats.org/drawingml/2006/main">
            <a:off x="8524875" y="4857750"/>
            <a:ext cx="2047875" cy="7048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RDS MySQL</a:t>
            </a:r>
          </a:p>
        </p:txBody>
      </p:sp>
      <p:cxnSp>
        <p:nvCxnSpPr>
          <p:cNvPr id="37" name=""/>
          <p:cNvCxnSpPr>
            <a:stCxn xmlns:a="http://schemas.openxmlformats.org/drawingml/2006/main" id="8" idx="2"/>
            <a:endCxn xmlns:a="http://schemas.openxmlformats.org/drawingml/2006/main" id="14" idx="0"/>
          </p:cNvCxnSpPr>
          <p:nvPr/>
        </p:nvCxnSpPr>
        <p:spPr>
          <a:xfrm xmlns:a="http://schemas.openxmlformats.org/drawingml/2006/main">
            <a:off x="2738438" y="4000500"/>
            <a:ext cx="0" cy="857250"/>
          </a:xfrm>
          <a:prstGeom xmlns:a="http://schemas.openxmlformats.org/drawingml/2006/main" prst="straightConnector1">
            <a:avLst/>
          </a:prstGeom>
          <a:ln xmlns:a="http://schemas.openxmlformats.org/drawingml/2006/main" w="19050">
            <a:solidFill>
              <a:srgbClr val="87CDE5"/>
            </a:solidFill>
            <a:tailEnd type="triangle" w="med" len="med"/>
          </a:ln>
        </p:spPr>
      </p:cxnSp>
      <p:cxnSp>
        <p:nvCxnSpPr>
          <p:cNvPr id="38" name=""/>
          <p:cNvCxnSpPr>
            <a:stCxn xmlns:a="http://schemas.openxmlformats.org/drawingml/2006/main" id="9" idx="2"/>
            <a:endCxn xmlns:a="http://schemas.openxmlformats.org/drawingml/2006/main" id="15" idx="0"/>
          </p:cNvCxnSpPr>
          <p:nvPr/>
        </p:nvCxnSpPr>
        <p:spPr>
          <a:xfrm xmlns:a="http://schemas.openxmlformats.org/drawingml/2006/main">
            <a:off x="6119813" y="4000500"/>
            <a:ext cx="0" cy="857250"/>
          </a:xfrm>
          <a:prstGeom xmlns:a="http://schemas.openxmlformats.org/drawingml/2006/main" prst="straightConnector1">
            <a:avLst/>
          </a:prstGeom>
          <a:ln xmlns:a="http://schemas.openxmlformats.org/drawingml/2006/main" w="19050">
            <a:solidFill>
              <a:srgbClr val="87CDE5"/>
            </a:solidFill>
            <a:tailEnd type="triangle" w="med" len="med"/>
          </a:ln>
        </p:spPr>
      </p:cxnSp>
      <p:cxnSp>
        <p:nvCxnSpPr>
          <p:cNvPr id="39" name=""/>
          <p:cNvCxnSpPr>
            <a:stCxn xmlns:a="http://schemas.openxmlformats.org/drawingml/2006/main" id="10" idx="2"/>
            <a:endCxn xmlns:a="http://schemas.openxmlformats.org/drawingml/2006/main" id="16" idx="0"/>
          </p:cNvCxnSpPr>
          <p:nvPr/>
        </p:nvCxnSpPr>
        <p:spPr>
          <a:xfrm xmlns:a="http://schemas.openxmlformats.org/drawingml/2006/main">
            <a:off x="9548813" y="4000500"/>
            <a:ext cx="0" cy="857250"/>
          </a:xfrm>
          <a:prstGeom xmlns:a="http://schemas.openxmlformats.org/drawingml/2006/main" prst="straightConnector1">
            <a:avLst/>
          </a:prstGeom>
          <a:ln xmlns:a="http://schemas.openxmlformats.org/drawingml/2006/main" w="19050">
            <a:solidFill>
              <a:srgbClr val="87CDE5"/>
            </a:solidFill>
            <a:tailEnd type="triangle" w="med" len="med"/>
          </a:ln>
        </p:spPr>
      </p:cxnSp>
      <p:sp>
        <p:nvSpPr>
          <p:cNvPr id="20" name="">
            <a:extLst xmlns:a="http://schemas.openxmlformats.org/drawingml/2006/main">
              <a:ext uri="{FF2B5EF4-FFF2-40B4-BE49-F238E27FC236}">
                <a16:creationId xmlns:a16="http://schemas.microsoft.com/office/drawing/2014/main" id="{A841D28D-DF31-49C1-B10A-0E881A378929}"/>
              </a:ext>
            </a:extLst>
          </p:cNvPr>
          <p:cNvSpPr>
            <a:spLocks xmlns:a="http://schemas.openxmlformats.org/drawingml/2006/main" noGrp="1"/>
          </p:cNvSpPr>
          <p:nvPr/>
        </p:nvSpPr>
        <p:spPr>
          <a:xfrm xmlns:a="http://schemas.openxmlformats.org/drawingml/2006/main">
            <a:off x="685800" y="59531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6A9ED"/>
                </a:solidFill>
                <a:latin typeface="Aptos"/>
                <a:ea typeface="Aptos"/>
                <a:cs typeface="Aptos"/>
              </a:defRPr>
            </a:pPr>
            <a:r>
              <a:rPr sz="1950" b="0">
                <a:solidFill>
                  <a:srgbClr val="B6A9ED"/>
                </a:solidFill>
                <a:latin typeface="Aptos"/>
                <a:ea typeface="Aptos"/>
                <a:cs typeface="Aptos"/>
              </a:rPr>
              <a:t>Application services run on EKS Fargate in private subnets</a:t>
            </a:r>
          </a:p>
        </p:txBody>
      </p:sp>
    </p:spTree>
    <p:extLst>
      <p:ext uri="{BB962C8B-B14F-4D97-AF65-F5344CB8AC3E}">
        <p14:creationId xmlns:p14="http://schemas.microsoft.com/office/powerpoint/2010/main" val="1061903239"/>
      </p:ext>
    </p:extLst>
  </p:cSld>
</p:sld>
</file>

<file path=ppt/slides/slide5.xml><?xml version="1.0" encoding="utf-8"?>
<p:sld xmlns:p="http://schemas.openxmlformats.org/presentationml/2006/main">
  <p:cSld>
    <p:bg>
      <p:bgPr>
        <a:solidFill xmlns:a="http://schemas.openxmlformats.org/drawingml/2006/main">
          <a:srgbClr val="1117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368318E-E309-4A78-AB75-CF44804F4A29}"/>
              </a:ext>
            </a:extLst>
          </p:cNvPr>
          <p:cNvSpPr>
            <a:spLocks xmlns:a="http://schemas.openxmlformats.org/drawingml/2006/main" noGrp="1"/>
          </p:cNvSpPr>
          <p:nvPr/>
        </p:nvSpPr>
        <p:spPr>
          <a:xfrm xmlns:a="http://schemas.openxmlformats.org/drawingml/2006/main">
            <a:off x="685800" y="4953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A"/>
                </a:solidFill>
                <a:latin typeface="Aptos"/>
                <a:ea typeface="Aptos"/>
                <a:cs typeface="Aptos"/>
              </a:defRPr>
            </a:pPr>
            <a:r>
              <a:rPr sz="3300" b="1">
                <a:solidFill>
                  <a:srgbClr val="F4F0EA"/>
                </a:solidFill>
                <a:latin typeface="Aptos"/>
                <a:ea typeface="Aptos"/>
                <a:cs typeface="Aptos"/>
              </a:rPr>
              <a:t>Order confirmation and failure recovery</a:t>
            </a:r>
          </a:p>
        </p:txBody>
      </p:sp>
      <p:sp>
        <p:nvSpPr>
          <p:cNvPr id="2" name="">
            <a:extLst xmlns:a="http://schemas.openxmlformats.org/drawingml/2006/main">
              <a:ext uri="{FF2B5EF4-FFF2-40B4-BE49-F238E27FC236}">
                <a16:creationId xmlns:a16="http://schemas.microsoft.com/office/drawing/2014/main" id="{7E3634CA-4C1A-4D71-A8DD-4E6A7C4BCAE3}"/>
              </a:ext>
            </a:extLst>
          </p:cNvPr>
          <p:cNvSpPr>
            <a:spLocks xmlns:a="http://schemas.openxmlformats.org/drawingml/2006/main" noGrp="1"/>
          </p:cNvSpPr>
          <p:nvPr/>
        </p:nvSpPr>
        <p:spPr>
          <a:xfrm xmlns:a="http://schemas.openxmlformats.org/drawingml/2006/main">
            <a:off x="685800" y="1714500"/>
            <a:ext cx="2286000" cy="76200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MySQL outbox</a:t>
            </a:r>
          </a:p>
        </p:txBody>
      </p:sp>
      <p:sp>
        <p:nvSpPr>
          <p:cNvPr id="3" name="">
            <a:extLst xmlns:a="http://schemas.openxmlformats.org/drawingml/2006/main">
              <a:ext uri="{FF2B5EF4-FFF2-40B4-BE49-F238E27FC236}">
                <a16:creationId xmlns:a16="http://schemas.microsoft.com/office/drawing/2014/main" id="{0FAA2C14-14BA-4116-986D-A7E2FF86216F}"/>
              </a:ext>
            </a:extLst>
          </p:cNvPr>
          <p:cNvSpPr>
            <a:spLocks xmlns:a="http://schemas.openxmlformats.org/drawingml/2006/main" noGrp="1"/>
          </p:cNvSpPr>
          <p:nvPr/>
        </p:nvSpPr>
        <p:spPr>
          <a:xfrm xmlns:a="http://schemas.openxmlformats.org/drawingml/2006/main">
            <a:off x="4305300" y="1714500"/>
            <a:ext cx="2286000" cy="76200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EventBridge</a:t>
            </a:r>
          </a:p>
        </p:txBody>
      </p:sp>
      <p:sp>
        <p:nvSpPr>
          <p:cNvPr id="4" name="">
            <a:extLst xmlns:a="http://schemas.openxmlformats.org/drawingml/2006/main">
              <a:ext uri="{FF2B5EF4-FFF2-40B4-BE49-F238E27FC236}">
                <a16:creationId xmlns:a16="http://schemas.microsoft.com/office/drawing/2014/main" id="{3F8E275B-F882-4D83-A16A-EE76AFC4A835}"/>
              </a:ext>
            </a:extLst>
          </p:cNvPr>
          <p:cNvSpPr>
            <a:spLocks xmlns:a="http://schemas.openxmlformats.org/drawingml/2006/main" noGrp="1"/>
          </p:cNvSpPr>
          <p:nvPr/>
        </p:nvSpPr>
        <p:spPr>
          <a:xfrm xmlns:a="http://schemas.openxmlformats.org/drawingml/2006/main">
            <a:off x="7924800" y="1714500"/>
            <a:ext cx="2286000" cy="76200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SQS queue</a:t>
            </a:r>
          </a:p>
        </p:txBody>
      </p:sp>
      <p:cxnSp>
        <p:nvCxnSpPr>
          <p:cNvPr id="19" name=""/>
          <p:cNvCxnSpPr>
            <a:stCxn xmlns:a="http://schemas.openxmlformats.org/drawingml/2006/main" id="2" idx="3"/>
            <a:endCxn xmlns:a="http://schemas.openxmlformats.org/drawingml/2006/main" id="3" idx="1"/>
          </p:cNvCxnSpPr>
          <p:nvPr/>
        </p:nvCxnSpPr>
        <p:spPr>
          <a:xfrm xmlns:a="http://schemas.openxmlformats.org/drawingml/2006/main">
            <a:off x="2971800" y="2095500"/>
            <a:ext cx="1333500" cy="0"/>
          </a:xfrm>
          <a:prstGeom xmlns:a="http://schemas.openxmlformats.org/drawingml/2006/main" prst="straightConnector1">
            <a:avLst/>
          </a:prstGeom>
          <a:ln xmlns:a="http://schemas.openxmlformats.org/drawingml/2006/main" w="19050">
            <a:solidFill>
              <a:srgbClr val="87CDE5"/>
            </a:solidFill>
            <a:tailEnd type="triangle" w="med" len="med"/>
          </a:ln>
        </p:spPr>
      </p:cxn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6591300" y="2095500"/>
            <a:ext cx="1333500" cy="0"/>
          </a:xfrm>
          <a:prstGeom xmlns:a="http://schemas.openxmlformats.org/drawingml/2006/main" prst="straightConnector1">
            <a:avLst/>
          </a:prstGeom>
          <a:ln xmlns:a="http://schemas.openxmlformats.org/drawingml/2006/main" w="19050">
            <a:solidFill>
              <a:srgbClr val="87CDE5"/>
            </a:solidFill>
            <a:tailEnd type="triangle" w="med" len="med"/>
          </a:ln>
        </p:spPr>
      </p:cxnSp>
      <p:sp>
        <p:nvSpPr>
          <p:cNvPr id="7" name="">
            <a:extLst xmlns:a="http://schemas.openxmlformats.org/drawingml/2006/main">
              <a:ext uri="{FF2B5EF4-FFF2-40B4-BE49-F238E27FC236}">
                <a16:creationId xmlns:a16="http://schemas.microsoft.com/office/drawing/2014/main" id="{0857CB6C-BFE1-4B3F-8388-173BA8146F18}"/>
              </a:ext>
            </a:extLst>
          </p:cNvPr>
          <p:cNvSpPr>
            <a:spLocks xmlns:a="http://schemas.openxmlformats.org/drawingml/2006/main" noGrp="1"/>
          </p:cNvSpPr>
          <p:nvPr/>
        </p:nvSpPr>
        <p:spPr>
          <a:xfrm xmlns:a="http://schemas.openxmlformats.org/drawingml/2006/main">
            <a:off x="7924800" y="3638550"/>
            <a:ext cx="2286000" cy="76200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Notification</a:t>
            </a:r>
          </a:p>
        </p:txBody>
      </p:sp>
      <p:sp>
        <p:nvSpPr>
          <p:cNvPr id="8" name="">
            <a:extLst xmlns:a="http://schemas.openxmlformats.org/drawingml/2006/main">
              <a:ext uri="{FF2B5EF4-FFF2-40B4-BE49-F238E27FC236}">
                <a16:creationId xmlns:a16="http://schemas.microsoft.com/office/drawing/2014/main" id="{F7278667-3F4D-44E2-8785-55AF0509992D}"/>
              </a:ext>
            </a:extLst>
          </p:cNvPr>
          <p:cNvSpPr>
            <a:spLocks xmlns:a="http://schemas.openxmlformats.org/drawingml/2006/main" noGrp="1"/>
          </p:cNvSpPr>
          <p:nvPr/>
        </p:nvSpPr>
        <p:spPr>
          <a:xfrm xmlns:a="http://schemas.openxmlformats.org/drawingml/2006/main">
            <a:off x="4305300" y="3638550"/>
            <a:ext cx="2286000" cy="76200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SES</a:t>
            </a:r>
          </a:p>
        </p:txBody>
      </p:sp>
      <p:sp>
        <p:nvSpPr>
          <p:cNvPr id="9" name="">
            <a:extLst xmlns:a="http://schemas.openxmlformats.org/drawingml/2006/main">
              <a:ext uri="{FF2B5EF4-FFF2-40B4-BE49-F238E27FC236}">
                <a16:creationId xmlns:a16="http://schemas.microsoft.com/office/drawing/2014/main" id="{139F3724-50EC-4837-897F-8A93618CF01E}"/>
              </a:ext>
            </a:extLst>
          </p:cNvPr>
          <p:cNvSpPr>
            <a:spLocks xmlns:a="http://schemas.openxmlformats.org/drawingml/2006/main" noGrp="1"/>
          </p:cNvSpPr>
          <p:nvPr/>
        </p:nvSpPr>
        <p:spPr>
          <a:xfrm xmlns:a="http://schemas.openxmlformats.org/drawingml/2006/main">
            <a:off x="685800" y="3638550"/>
            <a:ext cx="2286000" cy="76200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Customer inbox</a:t>
            </a:r>
          </a:p>
        </p:txBody>
      </p:sp>
      <p:cxnSp>
        <p:nvCxnSpPr>
          <p:cNvPr id="24" name=""/>
          <p:cNvCxnSpPr>
            <a:stCxn xmlns:a="http://schemas.openxmlformats.org/drawingml/2006/main" id="4" idx="2"/>
            <a:endCxn xmlns:a="http://schemas.openxmlformats.org/drawingml/2006/main" id="7" idx="0"/>
          </p:cNvCxnSpPr>
          <p:nvPr/>
        </p:nvCxnSpPr>
        <p:spPr>
          <a:xfrm xmlns:a="http://schemas.openxmlformats.org/drawingml/2006/main">
            <a:off x="9067800" y="2476500"/>
            <a:ext cx="0" cy="1162050"/>
          </a:xfrm>
          <a:prstGeom xmlns:a="http://schemas.openxmlformats.org/drawingml/2006/main" prst="straightConnector1">
            <a:avLst/>
          </a:prstGeom>
          <a:ln xmlns:a="http://schemas.openxmlformats.org/drawingml/2006/main" w="19050">
            <a:solidFill>
              <a:srgbClr val="87CDE5"/>
            </a:solidFill>
            <a:tailEnd type="triangle" w="med" len="med"/>
          </a:ln>
        </p:spPr>
      </p:cxnSp>
      <p:cxnSp>
        <p:nvCxnSpPr>
          <p:cNvPr id="25" name=""/>
          <p:cNvCxnSpPr>
            <a:stCxn xmlns:a="http://schemas.openxmlformats.org/drawingml/2006/main" id="7" idx="1"/>
            <a:endCxn xmlns:a="http://schemas.openxmlformats.org/drawingml/2006/main" id="8" idx="3"/>
          </p:cNvCxnSpPr>
          <p:nvPr/>
        </p:nvCxnSpPr>
        <p:spPr>
          <a:xfrm xmlns:a="http://schemas.openxmlformats.org/drawingml/2006/main" flipH="1">
            <a:off x="6591300" y="4019550"/>
            <a:ext cx="1333500" cy="0"/>
          </a:xfrm>
          <a:prstGeom xmlns:a="http://schemas.openxmlformats.org/drawingml/2006/main" prst="straightConnector1">
            <a:avLst/>
          </a:prstGeom>
          <a:ln xmlns:a="http://schemas.openxmlformats.org/drawingml/2006/main" w="19050">
            <a:solidFill>
              <a:srgbClr val="87CDE5"/>
            </a:solidFill>
            <a:tailEnd type="triangle" w="med" len="med"/>
          </a:ln>
        </p:spPr>
      </p:cxnSp>
      <p:cxnSp>
        <p:nvCxnSpPr>
          <p:cNvPr id="26" name=""/>
          <p:cNvCxnSpPr>
            <a:stCxn xmlns:a="http://schemas.openxmlformats.org/drawingml/2006/main" id="8" idx="1"/>
            <a:endCxn xmlns:a="http://schemas.openxmlformats.org/drawingml/2006/main" id="9" idx="3"/>
          </p:cNvCxnSpPr>
          <p:nvPr/>
        </p:nvCxnSpPr>
        <p:spPr>
          <a:xfrm xmlns:a="http://schemas.openxmlformats.org/drawingml/2006/main" flipH="1">
            <a:off x="2971800" y="4019550"/>
            <a:ext cx="1333500" cy="0"/>
          </a:xfrm>
          <a:prstGeom xmlns:a="http://schemas.openxmlformats.org/drawingml/2006/main" prst="straightConnector1">
            <a:avLst/>
          </a:prstGeom>
          <a:ln xmlns:a="http://schemas.openxmlformats.org/drawingml/2006/main" w="19050">
            <a:solidFill>
              <a:srgbClr val="87CDE5"/>
            </a:solidFill>
            <a:tailEnd type="triangle" w="med" len="med"/>
          </a:ln>
        </p:spPr>
      </p:cxnSp>
      <p:sp>
        <p:nvSpPr>
          <p:cNvPr id="13" name="">
            <a:extLst xmlns:a="http://schemas.openxmlformats.org/drawingml/2006/main">
              <a:ext uri="{FF2B5EF4-FFF2-40B4-BE49-F238E27FC236}">
                <a16:creationId xmlns:a16="http://schemas.microsoft.com/office/drawing/2014/main" id="{858A5D33-3D7D-426E-B6BC-656A1108A03B}"/>
              </a:ext>
            </a:extLst>
          </p:cNvPr>
          <p:cNvSpPr>
            <a:spLocks xmlns:a="http://schemas.openxmlformats.org/drawingml/2006/main" noGrp="1"/>
          </p:cNvSpPr>
          <p:nvPr/>
        </p:nvSpPr>
        <p:spPr>
          <a:xfrm xmlns:a="http://schemas.openxmlformats.org/drawingml/2006/main">
            <a:off x="685800" y="5000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6A9ED"/>
                </a:solidFill>
                <a:latin typeface="Aptos"/>
                <a:ea typeface="Aptos"/>
                <a:cs typeface="Aptos"/>
              </a:defRPr>
            </a:pPr>
            <a:r>
              <a:rPr sz="2250" b="0">
                <a:solidFill>
                  <a:srgbClr val="B6A9ED"/>
                </a:solidFill>
                <a:latin typeface="Aptos"/>
                <a:ea typeface="Aptos"/>
                <a:cs typeface="Aptos"/>
              </a:rPr>
              <a:t>Processing failure: retry, then dead-letter queue after three receives</a:t>
            </a:r>
          </a:p>
        </p:txBody>
      </p:sp>
      <p:sp>
        <p:nvSpPr>
          <p:cNvPr id="14" name="">
            <a:extLst xmlns:a="http://schemas.openxmlformats.org/drawingml/2006/main">
              <a:ext uri="{FF2B5EF4-FFF2-40B4-BE49-F238E27FC236}">
                <a16:creationId xmlns:a16="http://schemas.microsoft.com/office/drawing/2014/main" id="{708A2CEB-455A-459F-A9DC-68EFF9FC7217}"/>
              </a:ext>
            </a:extLst>
          </p:cNvPr>
          <p:cNvSpPr>
            <a:spLocks xmlns:a="http://schemas.openxmlformats.org/drawingml/2006/main" noGrp="1"/>
          </p:cNvSpPr>
          <p:nvPr/>
        </p:nvSpPr>
        <p:spPr>
          <a:xfrm xmlns:a="http://schemas.openxmlformats.org/drawingml/2006/main">
            <a:off x="685800" y="59531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AC2D5"/>
                </a:solidFill>
                <a:latin typeface="Aptos"/>
                <a:ea typeface="Aptos"/>
                <a:cs typeface="Aptos"/>
              </a:defRPr>
            </a:pPr>
            <a:r>
              <a:rPr sz="1950" b="0">
                <a:solidFill>
                  <a:srgbClr val="BAC2D5"/>
                </a:solidFill>
                <a:latin typeface="Aptos"/>
                <a:ea typeface="Aptos"/>
                <a:cs typeface="Aptos"/>
              </a:rPr>
              <a:t>At-least-once delivery can duplicate messages or emails</a:t>
            </a:r>
          </a:p>
        </p:txBody>
      </p:sp>
    </p:spTree>
    <p:extLst>
      <p:ext uri="{BB962C8B-B14F-4D97-AF65-F5344CB8AC3E}">
        <p14:creationId xmlns:p14="http://schemas.microsoft.com/office/powerpoint/2010/main" val="1578300801"/>
      </p:ext>
    </p:extLst>
  </p:cSld>
</p:sld>
</file>

<file path=ppt/slides/slide6.xml><?xml version="1.0" encoding="utf-8"?>
<p:sld xmlns:p="http://schemas.openxmlformats.org/presentationml/2006/main">
  <p:cSld>
    <p:bg>
      <p:bgPr>
        <a:solidFill xmlns:a="http://schemas.openxmlformats.org/drawingml/2006/main">
          <a:srgbClr val="1117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FE0FA4F-0819-411C-9F68-CCD92166B677}"/>
              </a:ext>
            </a:extLst>
          </p:cNvPr>
          <p:cNvSpPr>
            <a:spLocks xmlns:a="http://schemas.openxmlformats.org/drawingml/2006/main" noGrp="1"/>
          </p:cNvSpPr>
          <p:nvPr/>
        </p:nvSpPr>
        <p:spPr>
          <a:xfrm xmlns:a="http://schemas.openxmlformats.org/drawingml/2006/main">
            <a:off x="685800" y="4953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A"/>
                </a:solidFill>
                <a:latin typeface="Aptos"/>
                <a:ea typeface="Aptos"/>
                <a:cs typeface="Aptos"/>
              </a:defRPr>
            </a:pPr>
            <a:r>
              <a:rPr sz="3300" b="1">
                <a:solidFill>
                  <a:srgbClr val="F4F0EA"/>
                </a:solidFill>
                <a:latin typeface="Aptos"/>
                <a:ea typeface="Aptos"/>
                <a:cs typeface="Aptos"/>
              </a:rPr>
              <a:t>Controlled release process</a:t>
            </a:r>
          </a:p>
        </p:txBody>
      </p:sp>
      <p:sp>
        <p:nvSpPr>
          <p:cNvPr id="2" name="">
            <a:extLst xmlns:a="http://schemas.openxmlformats.org/drawingml/2006/main">
              <a:ext uri="{FF2B5EF4-FFF2-40B4-BE49-F238E27FC236}">
                <a16:creationId xmlns:a16="http://schemas.microsoft.com/office/drawing/2014/main" id="{498B778A-B2B3-4AA5-9E78-8E144680AA6E}"/>
              </a:ext>
            </a:extLst>
          </p:cNvPr>
          <p:cNvSpPr>
            <a:spLocks xmlns:a="http://schemas.openxmlformats.org/drawingml/2006/main" noGrp="1"/>
          </p:cNvSpPr>
          <p:nvPr/>
        </p:nvSpPr>
        <p:spPr>
          <a:xfrm xmlns:a="http://schemas.openxmlformats.org/drawingml/2006/main">
            <a:off x="685800" y="161925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6A9ED"/>
                </a:solidFill>
                <a:latin typeface="Aptos"/>
                <a:ea typeface="Aptos"/>
                <a:cs typeface="Aptos"/>
              </a:defRPr>
            </a:pPr>
            <a:r>
              <a:rPr sz="2400" b="1">
                <a:solidFill>
                  <a:srgbClr val="B6A9ED"/>
                </a:solidFill>
                <a:latin typeface="Aptos"/>
                <a:ea typeface="Aptos"/>
                <a:cs typeface="Aptos"/>
              </a:rPr>
              <a:t>Infrastructure</a:t>
            </a:r>
          </a:p>
        </p:txBody>
      </p:sp>
      <p:sp>
        <p:nvSpPr>
          <p:cNvPr id="3" name="">
            <a:extLst xmlns:a="http://schemas.openxmlformats.org/drawingml/2006/main">
              <a:ext uri="{FF2B5EF4-FFF2-40B4-BE49-F238E27FC236}">
                <a16:creationId xmlns:a16="http://schemas.microsoft.com/office/drawing/2014/main" id="{F674D7CB-F4B3-4A8C-9F05-29D6A0FD3DA5}"/>
              </a:ext>
            </a:extLst>
          </p:cNvPr>
          <p:cNvSpPr>
            <a:spLocks xmlns:a="http://schemas.openxmlformats.org/drawingml/2006/main" noGrp="1"/>
          </p:cNvSpPr>
          <p:nvPr/>
        </p:nvSpPr>
        <p:spPr>
          <a:xfrm xmlns:a="http://schemas.openxmlformats.org/drawingml/2006/main">
            <a:off x="685800" y="2238375"/>
            <a:ext cx="2333625" cy="7429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PR into main</a:t>
            </a:r>
          </a:p>
        </p:txBody>
      </p:sp>
      <p:sp>
        <p:nvSpPr>
          <p:cNvPr id="4" name="">
            <a:extLst xmlns:a="http://schemas.openxmlformats.org/drawingml/2006/main">
              <a:ext uri="{FF2B5EF4-FFF2-40B4-BE49-F238E27FC236}">
                <a16:creationId xmlns:a16="http://schemas.microsoft.com/office/drawing/2014/main" id="{4FC02566-7674-464B-BC22-82D34BD795F0}"/>
              </a:ext>
            </a:extLst>
          </p:cNvPr>
          <p:cNvSpPr>
            <a:spLocks xmlns:a="http://schemas.openxmlformats.org/drawingml/2006/main" noGrp="1"/>
          </p:cNvSpPr>
          <p:nvPr/>
        </p:nvSpPr>
        <p:spPr>
          <a:xfrm xmlns:a="http://schemas.openxmlformats.org/drawingml/2006/main">
            <a:off x="4524375" y="2238375"/>
            <a:ext cx="2952750" cy="7429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Checks + saved plan</a:t>
            </a:r>
          </a:p>
        </p:txBody>
      </p:sp>
      <p:sp>
        <p:nvSpPr>
          <p:cNvPr id="5" name="">
            <a:extLst xmlns:a="http://schemas.openxmlformats.org/drawingml/2006/main">
              <a:ext uri="{FF2B5EF4-FFF2-40B4-BE49-F238E27FC236}">
                <a16:creationId xmlns:a16="http://schemas.microsoft.com/office/drawing/2014/main" id="{4C7F22D2-120B-4A31-97E5-9B2347710F65}"/>
              </a:ext>
            </a:extLst>
          </p:cNvPr>
          <p:cNvSpPr>
            <a:spLocks xmlns:a="http://schemas.openxmlformats.org/drawingml/2006/main" noGrp="1"/>
          </p:cNvSpPr>
          <p:nvPr/>
        </p:nvSpPr>
        <p:spPr>
          <a:xfrm xmlns:a="http://schemas.openxmlformats.org/drawingml/2006/main">
            <a:off x="8953500" y="2238375"/>
            <a:ext cx="2476500" cy="7429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Approval + apply</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019425" y="2609850"/>
            <a:ext cx="1504950" cy="0"/>
          </a:xfrm>
          <a:prstGeom xmlns:a="http://schemas.openxmlformats.org/drawingml/2006/main" prst="straightConnector1">
            <a:avLst/>
          </a:prstGeom>
          <a:ln xmlns:a="http://schemas.openxmlformats.org/drawingml/2006/main" w="19050">
            <a:solidFill>
              <a:srgbClr val="87CDE5"/>
            </a:solidFill>
            <a:tailEnd type="triangle"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7477125" y="2609850"/>
            <a:ext cx="1476375" cy="0"/>
          </a:xfrm>
          <a:prstGeom xmlns:a="http://schemas.openxmlformats.org/drawingml/2006/main" prst="straightConnector1">
            <a:avLst/>
          </a:prstGeom>
          <a:ln xmlns:a="http://schemas.openxmlformats.org/drawingml/2006/main" w="19050">
            <a:solidFill>
              <a:srgbClr val="87CDE5"/>
            </a:solidFill>
            <a:tailEnd type="triangle" w="med" len="med"/>
          </a:ln>
        </p:spPr>
      </p:cxnSp>
      <p:sp>
        <p:nvSpPr>
          <p:cNvPr id="8" name="">
            <a:extLst xmlns:a="http://schemas.openxmlformats.org/drawingml/2006/main">
              <a:ext uri="{FF2B5EF4-FFF2-40B4-BE49-F238E27FC236}">
                <a16:creationId xmlns:a16="http://schemas.microsoft.com/office/drawing/2014/main" id="{AA6A9A53-55B3-4F7F-A1DC-4F3CAA0CC7F0}"/>
              </a:ext>
            </a:extLst>
          </p:cNvPr>
          <p:cNvSpPr>
            <a:spLocks xmlns:a="http://schemas.openxmlformats.org/drawingml/2006/main" noGrp="1"/>
          </p:cNvSpPr>
          <p:nvPr/>
        </p:nvSpPr>
        <p:spPr>
          <a:xfrm xmlns:a="http://schemas.openxmlformats.org/drawingml/2006/main">
            <a:off x="685800" y="36671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6A9ED"/>
                </a:solidFill>
                <a:latin typeface="Aptos"/>
                <a:ea typeface="Aptos"/>
                <a:cs typeface="Aptos"/>
              </a:defRPr>
            </a:pPr>
            <a:r>
              <a:rPr sz="2400" b="1">
                <a:solidFill>
                  <a:srgbClr val="B6A9ED"/>
                </a:solidFill>
                <a:latin typeface="Aptos"/>
                <a:ea typeface="Aptos"/>
                <a:cs typeface="Aptos"/>
              </a:rPr>
              <a:t>Application</a:t>
            </a:r>
          </a:p>
        </p:txBody>
      </p:sp>
      <p:sp>
        <p:nvSpPr>
          <p:cNvPr id="9" name="">
            <a:extLst xmlns:a="http://schemas.openxmlformats.org/drawingml/2006/main">
              <a:ext uri="{FF2B5EF4-FFF2-40B4-BE49-F238E27FC236}">
                <a16:creationId xmlns:a16="http://schemas.microsoft.com/office/drawing/2014/main" id="{7EFBEC63-E450-4F3E-AB99-4C2B11E5F98B}"/>
              </a:ext>
            </a:extLst>
          </p:cNvPr>
          <p:cNvSpPr>
            <a:spLocks xmlns:a="http://schemas.openxmlformats.org/drawingml/2006/main" noGrp="1"/>
          </p:cNvSpPr>
          <p:nvPr/>
        </p:nvSpPr>
        <p:spPr>
          <a:xfrm xmlns:a="http://schemas.openxmlformats.org/drawingml/2006/main">
            <a:off x="685800" y="4286250"/>
            <a:ext cx="2667000" cy="7429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PR into app + CI</a:t>
            </a:r>
          </a:p>
        </p:txBody>
      </p:sp>
      <p:sp>
        <p:nvSpPr>
          <p:cNvPr id="10" name="">
            <a:extLst xmlns:a="http://schemas.openxmlformats.org/drawingml/2006/main">
              <a:ext uri="{FF2B5EF4-FFF2-40B4-BE49-F238E27FC236}">
                <a16:creationId xmlns:a16="http://schemas.microsoft.com/office/drawing/2014/main" id="{6C0CC30E-6A6C-4FF0-93A5-C09C541FAB92}"/>
              </a:ext>
            </a:extLst>
          </p:cNvPr>
          <p:cNvSpPr>
            <a:spLocks xmlns:a="http://schemas.openxmlformats.org/drawingml/2006/main" noGrp="1"/>
          </p:cNvSpPr>
          <p:nvPr/>
        </p:nvSpPr>
        <p:spPr>
          <a:xfrm xmlns:a="http://schemas.openxmlformats.org/drawingml/2006/main">
            <a:off x="4667250" y="4286250"/>
            <a:ext cx="2952750" cy="7429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Commit-tagged ECR</a:t>
            </a:r>
          </a:p>
        </p:txBody>
      </p:sp>
      <p:sp>
        <p:nvSpPr>
          <p:cNvPr id="11" name="">
            <a:extLst xmlns:a="http://schemas.openxmlformats.org/drawingml/2006/main">
              <a:ext uri="{FF2B5EF4-FFF2-40B4-BE49-F238E27FC236}">
                <a16:creationId xmlns:a16="http://schemas.microsoft.com/office/drawing/2014/main" id="{7DB77961-85A3-4BDF-8EE3-F27A991071A5}"/>
              </a:ext>
            </a:extLst>
          </p:cNvPr>
          <p:cNvSpPr>
            <a:spLocks xmlns:a="http://schemas.openxmlformats.org/drawingml/2006/main" noGrp="1"/>
          </p:cNvSpPr>
          <p:nvPr/>
        </p:nvSpPr>
        <p:spPr>
          <a:xfrm xmlns:a="http://schemas.openxmlformats.org/drawingml/2006/main">
            <a:off x="9048750" y="4286250"/>
            <a:ext cx="2381250" cy="742950"/>
          </a:xfrm>
          <a:prstGeom xmlns:a="http://schemas.openxmlformats.org/drawingml/2006/main" prst="rect">
            <a:avLst/>
          </a:prstGeom>
          <a:solidFill xmlns:a="http://schemas.openxmlformats.org/drawingml/2006/main">
            <a:srgbClr val="1D2943"/>
          </a:solidFill>
          <a:ln xmlns:a="http://schemas.openxmlformats.org/drawingml/2006/main" w="14288">
            <a:solidFill>
              <a:srgbClr val="B6A9ED"/>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F4F0EA"/>
                </a:solidFill>
                <a:latin typeface="Aptos"/>
                <a:ea typeface="Aptos"/>
                <a:cs typeface="Aptos"/>
              </a:defRPr>
            </a:pPr>
            <a:r>
              <a:rPr sz="1875">
                <a:solidFill>
                  <a:srgbClr val="F4F0EA"/>
                </a:solidFill>
                <a:latin typeface="Aptos"/>
                <a:ea typeface="Aptos"/>
                <a:cs typeface="Aptos"/>
              </a:rPr>
              <a:t>Approval + Helm</a:t>
            </a:r>
          </a:p>
        </p:txBody>
      </p:sp>
      <p:cxnSp>
        <p:nvCxnSpPr>
          <p:cNvPr id="26" name=""/>
          <p:cNvCxnSpPr>
            <a:stCxn xmlns:a="http://schemas.openxmlformats.org/drawingml/2006/main" id="9" idx="3"/>
            <a:endCxn xmlns:a="http://schemas.openxmlformats.org/drawingml/2006/main" id="10" idx="1"/>
          </p:cNvCxnSpPr>
          <p:nvPr/>
        </p:nvCxnSpPr>
        <p:spPr>
          <a:xfrm xmlns:a="http://schemas.openxmlformats.org/drawingml/2006/main">
            <a:off x="3352800" y="4657725"/>
            <a:ext cx="1314450" cy="0"/>
          </a:xfrm>
          <a:prstGeom xmlns:a="http://schemas.openxmlformats.org/drawingml/2006/main" prst="straightConnector1">
            <a:avLst/>
          </a:prstGeom>
          <a:ln xmlns:a="http://schemas.openxmlformats.org/drawingml/2006/main" w="19050">
            <a:solidFill>
              <a:srgbClr val="87CDE5"/>
            </a:solidFill>
            <a:tailEnd type="triangle" w="med" len="med"/>
          </a:ln>
        </p:spPr>
      </p:cxnSp>
      <p:cxnSp>
        <p:nvCxnSpPr>
          <p:cNvPr id="27" name=""/>
          <p:cNvCxnSpPr>
            <a:stCxn xmlns:a="http://schemas.openxmlformats.org/drawingml/2006/main" id="10" idx="3"/>
            <a:endCxn xmlns:a="http://schemas.openxmlformats.org/drawingml/2006/main" id="11" idx="1"/>
          </p:cNvCxnSpPr>
          <p:nvPr/>
        </p:nvCxnSpPr>
        <p:spPr>
          <a:xfrm xmlns:a="http://schemas.openxmlformats.org/drawingml/2006/main">
            <a:off x="7620000" y="4657725"/>
            <a:ext cx="1428750" cy="0"/>
          </a:xfrm>
          <a:prstGeom xmlns:a="http://schemas.openxmlformats.org/drawingml/2006/main" prst="straightConnector1">
            <a:avLst/>
          </a:prstGeom>
          <a:ln xmlns:a="http://schemas.openxmlformats.org/drawingml/2006/main" w="19050">
            <a:solidFill>
              <a:srgbClr val="87CDE5"/>
            </a:solidFill>
            <a:tailEnd type="triangle" w="med" len="med"/>
          </a:ln>
        </p:spPr>
      </p:cxnSp>
      <p:sp>
        <p:nvSpPr>
          <p:cNvPr id="14" name="">
            <a:extLst xmlns:a="http://schemas.openxmlformats.org/drawingml/2006/main">
              <a:ext uri="{FF2B5EF4-FFF2-40B4-BE49-F238E27FC236}">
                <a16:creationId xmlns:a16="http://schemas.microsoft.com/office/drawing/2014/main" id="{57B5D42D-7932-48F0-875C-0BC3A8267D6B}"/>
              </a:ext>
            </a:extLst>
          </p:cNvPr>
          <p:cNvSpPr>
            <a:spLocks xmlns:a="http://schemas.openxmlformats.org/drawingml/2006/main" noGrp="1"/>
          </p:cNvSpPr>
          <p:nvPr/>
        </p:nvSpPr>
        <p:spPr>
          <a:xfrm xmlns:a="http://schemas.openxmlformats.org/drawingml/2006/main">
            <a:off x="685800" y="5857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AC2D5"/>
                </a:solidFill>
                <a:latin typeface="Aptos"/>
                <a:ea typeface="Aptos"/>
                <a:cs typeface="Aptos"/>
              </a:defRPr>
            </a:pPr>
            <a:r>
              <a:rPr sz="2025" b="0">
                <a:solidFill>
                  <a:srgbClr val="BAC2D5"/>
                </a:solidFill>
                <a:latin typeface="Aptos"/>
                <a:ea typeface="Aptos"/>
                <a:cs typeface="Aptos"/>
              </a:rPr>
              <a:t>Short-lived OIDC credentials and workload-specific IAM roles</a:t>
            </a:r>
          </a:p>
        </p:txBody>
      </p:sp>
    </p:spTree>
    <p:extLst>
      <p:ext uri="{BB962C8B-B14F-4D97-AF65-F5344CB8AC3E}">
        <p14:creationId xmlns:p14="http://schemas.microsoft.com/office/powerpoint/2010/main" val="13072067"/>
      </p:ext>
    </p:extLst>
  </p:cSld>
</p:sld>
</file>

<file path=ppt/slides/slide7.xml><?xml version="1.0" encoding="utf-8"?>
<p:sld xmlns:p="http://schemas.openxmlformats.org/presentationml/2006/main">
  <p:cSld>
    <p:bg>
      <p:bgPr>
        <a:solidFill xmlns:a="http://schemas.openxmlformats.org/drawingml/2006/main">
          <a:srgbClr val="1117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D17E0A-1259-4B6B-A0F7-F1B231106F15}"/>
              </a:ext>
            </a:extLst>
          </p:cNvPr>
          <p:cNvSpPr>
            <a:spLocks xmlns:a="http://schemas.openxmlformats.org/drawingml/2006/main" noGrp="1"/>
          </p:cNvSpPr>
          <p:nvPr/>
        </p:nvSpPr>
        <p:spPr>
          <a:xfrm xmlns:a="http://schemas.openxmlformats.org/drawingml/2006/main">
            <a:off x="685800" y="4953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A"/>
                </a:solidFill>
                <a:latin typeface="Aptos"/>
                <a:ea typeface="Aptos"/>
                <a:cs typeface="Aptos"/>
              </a:defRPr>
            </a:pPr>
            <a:r>
              <a:rPr sz="3300" b="1">
                <a:solidFill>
                  <a:srgbClr val="F4F0EA"/>
                </a:solidFill>
                <a:latin typeface="Aptos"/>
                <a:ea typeface="Aptos"/>
                <a:cs typeface="Aptos"/>
              </a:rPr>
              <a:t>Operational visibility</a:t>
            </a:r>
          </a:p>
        </p:txBody>
      </p:sp>
      <p:sp>
        <p:nvSpPr>
          <p:cNvPr id="2" name="">
            <a:extLst xmlns:a="http://schemas.openxmlformats.org/drawingml/2006/main">
              <a:ext uri="{FF2B5EF4-FFF2-40B4-BE49-F238E27FC236}">
                <a16:creationId xmlns:a16="http://schemas.microsoft.com/office/drawing/2014/main" id="{EDF0119A-4334-44BA-BF0B-46C0FECE4387}"/>
              </a:ext>
            </a:extLst>
          </p:cNvPr>
          <p:cNvSpPr>
            <a:spLocks xmlns:a="http://schemas.openxmlformats.org/drawingml/2006/main" noGrp="1"/>
          </p:cNvSpPr>
          <p:nvPr/>
        </p:nvSpPr>
        <p:spPr>
          <a:xfrm xmlns:a="http://schemas.openxmlformats.org/drawingml/2006/main">
            <a:off x="685800" y="16573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6A9ED"/>
                </a:solidFill>
                <a:latin typeface="Aptos"/>
                <a:ea typeface="Aptos"/>
                <a:cs typeface="Aptos"/>
              </a:defRPr>
            </a:pPr>
            <a:r>
              <a:rPr sz="2400" b="1">
                <a:solidFill>
                  <a:srgbClr val="B6A9ED"/>
                </a:solidFill>
                <a:latin typeface="Aptos"/>
                <a:ea typeface="Aptos"/>
                <a:cs typeface="Aptos"/>
              </a:rPr>
              <a:t>Service health</a:t>
            </a:r>
          </a:p>
        </p:txBody>
      </p:sp>
      <p:sp>
        <p:nvSpPr>
          <p:cNvPr id="3" name="">
            <a:extLst xmlns:a="http://schemas.openxmlformats.org/drawingml/2006/main">
              <a:ext uri="{FF2B5EF4-FFF2-40B4-BE49-F238E27FC236}">
                <a16:creationId xmlns:a16="http://schemas.microsoft.com/office/drawing/2014/main" id="{F56C96BB-3683-4EDE-8A64-C031D273775E}"/>
              </a:ext>
            </a:extLst>
          </p:cNvPr>
          <p:cNvSpPr>
            <a:spLocks xmlns:a="http://schemas.openxmlformats.org/drawingml/2006/main" noGrp="1"/>
          </p:cNvSpPr>
          <p:nvPr/>
        </p:nvSpPr>
        <p:spPr>
          <a:xfrm xmlns:a="http://schemas.openxmlformats.org/drawingml/2006/main">
            <a:off x="685800" y="2219325"/>
            <a:ext cx="10363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4F0EA"/>
                </a:solidFill>
                <a:latin typeface="Aptos"/>
                <a:ea typeface="Aptos"/>
                <a:cs typeface="Aptos"/>
              </a:defRPr>
            </a:pPr>
            <a:r>
              <a:rPr sz="2100" b="0">
                <a:solidFill>
                  <a:srgbClr val="F4F0EA"/>
                </a:solidFill>
                <a:latin typeface="Aptos"/>
                <a:ea typeface="Aptos"/>
                <a:cs typeface="Aptos"/>
              </a:rPr>
              <a:t>Scrape availability, request volume, server errors and p95 latency.</a:t>
            </a:r>
          </a:p>
        </p:txBody>
      </p:sp>
      <p:sp>
        <p:nvSpPr>
          <p:cNvPr id="4" name="">
            <a:extLst xmlns:a="http://schemas.openxmlformats.org/drawingml/2006/main">
              <a:ext uri="{FF2B5EF4-FFF2-40B4-BE49-F238E27FC236}">
                <a16:creationId xmlns:a16="http://schemas.microsoft.com/office/drawing/2014/main" id="{3F3A8D3A-CE6A-4015-8C2B-B1555E9E2967}"/>
              </a:ext>
            </a:extLst>
          </p:cNvPr>
          <p:cNvSpPr>
            <a:spLocks xmlns:a="http://schemas.openxmlformats.org/drawingml/2006/main" noGrp="1"/>
          </p:cNvSpPr>
          <p:nvPr/>
        </p:nvSpPr>
        <p:spPr>
          <a:xfrm xmlns:a="http://schemas.openxmlformats.org/drawingml/2006/main">
            <a:off x="685800" y="320992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6A9ED"/>
                </a:solidFill>
                <a:latin typeface="Aptos"/>
                <a:ea typeface="Aptos"/>
                <a:cs typeface="Aptos"/>
              </a:defRPr>
            </a:pPr>
            <a:r>
              <a:rPr sz="2400" b="1">
                <a:solidFill>
                  <a:srgbClr val="B6A9ED"/>
                </a:solidFill>
                <a:latin typeface="Aptos"/>
                <a:ea typeface="Aptos"/>
                <a:cs typeface="Aptos"/>
              </a:rPr>
              <a:t>Reservation and email processing</a:t>
            </a:r>
          </a:p>
        </p:txBody>
      </p:sp>
      <p:sp>
        <p:nvSpPr>
          <p:cNvPr id="5" name="">
            <a:extLst xmlns:a="http://schemas.openxmlformats.org/drawingml/2006/main">
              <a:ext uri="{FF2B5EF4-FFF2-40B4-BE49-F238E27FC236}">
                <a16:creationId xmlns:a16="http://schemas.microsoft.com/office/drawing/2014/main" id="{DF67ED10-279D-49C3-B2D7-94BC4952F4E4}"/>
              </a:ext>
            </a:extLst>
          </p:cNvPr>
          <p:cNvSpPr>
            <a:spLocks xmlns:a="http://schemas.openxmlformats.org/drawingml/2006/main" noGrp="1"/>
          </p:cNvSpPr>
          <p:nvPr/>
        </p:nvSpPr>
        <p:spPr>
          <a:xfrm xmlns:a="http://schemas.openxmlformats.org/drawingml/2006/main">
            <a:off x="685800" y="3771900"/>
            <a:ext cx="10363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4F0EA"/>
                </a:solidFill>
                <a:latin typeface="Aptos"/>
                <a:ea typeface="Aptos"/>
                <a:cs typeface="Aptos"/>
              </a:defRPr>
            </a:pPr>
            <a:r>
              <a:rPr sz="2100" b="0">
                <a:solidFill>
                  <a:srgbClr val="F4F0EA"/>
                </a:solidFill>
                <a:latin typeface="Aptos"/>
                <a:ea typeface="Aptos"/>
                <a:cs typeface="Aptos"/>
              </a:rPr>
              <a:t>Confirmed reservations, SES acceptance attempts and outbox retries.</a:t>
            </a:r>
          </a:p>
        </p:txBody>
      </p:sp>
      <p:sp>
        <p:nvSpPr>
          <p:cNvPr id="6" name="">
            <a:extLst xmlns:a="http://schemas.openxmlformats.org/drawingml/2006/main">
              <a:ext uri="{FF2B5EF4-FFF2-40B4-BE49-F238E27FC236}">
                <a16:creationId xmlns:a16="http://schemas.microsoft.com/office/drawing/2014/main" id="{15A7B7D1-86CF-4DCC-AE05-BD08C08929EA}"/>
              </a:ext>
            </a:extLst>
          </p:cNvPr>
          <p:cNvSpPr>
            <a:spLocks xmlns:a="http://schemas.openxmlformats.org/drawingml/2006/main" noGrp="1"/>
          </p:cNvSpPr>
          <p:nvPr/>
        </p:nvSpPr>
        <p:spPr>
          <a:xfrm xmlns:a="http://schemas.openxmlformats.org/drawingml/2006/main">
            <a:off x="685800" y="47625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6A9ED"/>
                </a:solidFill>
                <a:latin typeface="Aptos"/>
                <a:ea typeface="Aptos"/>
                <a:cs typeface="Aptos"/>
              </a:defRPr>
            </a:pPr>
            <a:r>
              <a:rPr sz="2400" b="1">
                <a:solidFill>
                  <a:srgbClr val="B6A9ED"/>
                </a:solidFill>
                <a:latin typeface="Aptos"/>
                <a:ea typeface="Aptos"/>
                <a:cs typeface="Aptos"/>
              </a:rPr>
              <a:t>Deployment check before the meeting</a:t>
            </a:r>
          </a:p>
        </p:txBody>
      </p:sp>
      <p:sp>
        <p:nvSpPr>
          <p:cNvPr id="7" name="">
            <a:extLst xmlns:a="http://schemas.openxmlformats.org/drawingml/2006/main">
              <a:ext uri="{FF2B5EF4-FFF2-40B4-BE49-F238E27FC236}">
                <a16:creationId xmlns:a16="http://schemas.microsoft.com/office/drawing/2014/main" id="{1375281C-3771-4DE4-A835-3D3B2868CB7C}"/>
              </a:ext>
            </a:extLst>
          </p:cNvPr>
          <p:cNvSpPr>
            <a:spLocks xmlns:a="http://schemas.openxmlformats.org/drawingml/2006/main" noGrp="1"/>
          </p:cNvSpPr>
          <p:nvPr/>
        </p:nvSpPr>
        <p:spPr>
          <a:xfrm xmlns:a="http://schemas.openxmlformats.org/drawingml/2006/main">
            <a:off x="685800" y="5324475"/>
            <a:ext cx="10363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4F0EA"/>
                </a:solidFill>
                <a:latin typeface="Aptos"/>
                <a:ea typeface="Aptos"/>
                <a:cs typeface="Aptos"/>
              </a:defRPr>
            </a:pPr>
            <a:r>
              <a:rPr sz="2100" b="0">
                <a:solidFill>
                  <a:srgbClr val="F4F0EA"/>
                </a:solidFill>
                <a:latin typeface="Aptos"/>
                <a:ea typeface="Aptos"/>
                <a:cs typeface="Aptos"/>
              </a:rPr>
              <a:t>Confirm six scrape targets and generate a small amount of demo traffic.</a:t>
            </a:r>
          </a:p>
        </p:txBody>
      </p:sp>
    </p:spTree>
    <p:extLst>
      <p:ext uri="{BB962C8B-B14F-4D97-AF65-F5344CB8AC3E}">
        <p14:creationId xmlns:p14="http://schemas.microsoft.com/office/powerpoint/2010/main" val="1600668418"/>
      </p:ext>
    </p:extLst>
  </p:cSld>
</p:sld>
</file>

<file path=ppt/slides/slide8.xml><?xml version="1.0" encoding="utf-8"?>
<p:sld xmlns:p="http://schemas.openxmlformats.org/presentationml/2006/main">
  <p:cSld>
    <p:bg>
      <p:bgPr>
        <a:solidFill xmlns:a="http://schemas.openxmlformats.org/drawingml/2006/main">
          <a:srgbClr val="1117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4C07ED-B15D-4CAD-9230-46B3648CDE02}"/>
              </a:ext>
            </a:extLst>
          </p:cNvPr>
          <p:cNvSpPr>
            <a:spLocks xmlns:a="http://schemas.openxmlformats.org/drawingml/2006/main" noGrp="1"/>
          </p:cNvSpPr>
          <p:nvPr/>
        </p:nvSpPr>
        <p:spPr>
          <a:xfrm xmlns:a="http://schemas.openxmlformats.org/drawingml/2006/main">
            <a:off x="685800" y="4953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A"/>
                </a:solidFill>
                <a:latin typeface="Aptos"/>
                <a:ea typeface="Aptos"/>
                <a:cs typeface="Aptos"/>
              </a:defRPr>
            </a:pPr>
            <a:r>
              <a:rPr sz="3300" b="1">
                <a:solidFill>
                  <a:srgbClr val="F4F0EA"/>
                </a:solidFill>
                <a:latin typeface="Aptos"/>
                <a:ea typeface="Aptos"/>
                <a:cs typeface="Aptos"/>
              </a:rPr>
              <a:t>Cost and operating model</a:t>
            </a:r>
          </a:p>
        </p:txBody>
      </p:sp>
      <p:sp>
        <p:nvSpPr>
          <p:cNvPr id="2" name="">
            <a:extLst xmlns:a="http://schemas.openxmlformats.org/drawingml/2006/main">
              <a:ext uri="{FF2B5EF4-FFF2-40B4-BE49-F238E27FC236}">
                <a16:creationId xmlns:a16="http://schemas.microsoft.com/office/drawing/2014/main" id="{215E22A1-4FD7-4D2D-B7DE-9E31A5CE6A81}"/>
              </a:ext>
            </a:extLst>
          </p:cNvPr>
          <p:cNvSpPr>
            <a:spLocks xmlns:a="http://schemas.openxmlformats.org/drawingml/2006/main" noGrp="1"/>
          </p:cNvSpPr>
          <p:nvPr/>
        </p:nvSpPr>
        <p:spPr>
          <a:xfrm xmlns:a="http://schemas.openxmlformats.org/drawingml/2006/main">
            <a:off x="685800" y="16573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6A9ED"/>
                </a:solidFill>
                <a:latin typeface="Aptos"/>
                <a:ea typeface="Aptos"/>
                <a:cs typeface="Aptos"/>
              </a:defRPr>
            </a:pPr>
            <a:r>
              <a:rPr sz="2400" b="1">
                <a:solidFill>
                  <a:srgbClr val="B6A9ED"/>
                </a:solidFill>
                <a:latin typeface="Aptos"/>
                <a:ea typeface="Aptos"/>
                <a:cs typeface="Aptos"/>
              </a:rPr>
              <a:t>Always-on resources</a:t>
            </a:r>
          </a:p>
        </p:txBody>
      </p:sp>
      <p:sp>
        <p:nvSpPr>
          <p:cNvPr id="3" name="">
            <a:extLst xmlns:a="http://schemas.openxmlformats.org/drawingml/2006/main">
              <a:ext uri="{FF2B5EF4-FFF2-40B4-BE49-F238E27FC236}">
                <a16:creationId xmlns:a16="http://schemas.microsoft.com/office/drawing/2014/main" id="{3FBB5144-80A4-4B95-97B5-19EEF468334F}"/>
              </a:ext>
            </a:extLst>
          </p:cNvPr>
          <p:cNvSpPr>
            <a:spLocks xmlns:a="http://schemas.openxmlformats.org/drawingml/2006/main" noGrp="1"/>
          </p:cNvSpPr>
          <p:nvPr/>
        </p:nvSpPr>
        <p:spPr>
          <a:xfrm xmlns:a="http://schemas.openxmlformats.org/drawingml/2006/main">
            <a:off x="685800" y="2219325"/>
            <a:ext cx="10363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4F0EA"/>
                </a:solidFill>
                <a:latin typeface="Aptos"/>
                <a:ea typeface="Aptos"/>
                <a:cs typeface="Aptos"/>
              </a:defRPr>
            </a:pPr>
            <a:r>
              <a:rPr sz="2100" b="0">
                <a:solidFill>
                  <a:srgbClr val="F4F0EA"/>
                </a:solidFill>
                <a:latin typeface="Aptos"/>
                <a:ea typeface="Aptos"/>
                <a:cs typeface="Aptos"/>
              </a:rPr>
              <a:t>EKS control plane, NAT, ALB, database, cache and provisioned pods.</a:t>
            </a:r>
          </a:p>
        </p:txBody>
      </p:sp>
      <p:sp>
        <p:nvSpPr>
          <p:cNvPr id="4" name="">
            <a:extLst xmlns:a="http://schemas.openxmlformats.org/drawingml/2006/main">
              <a:ext uri="{FF2B5EF4-FFF2-40B4-BE49-F238E27FC236}">
                <a16:creationId xmlns:a16="http://schemas.microsoft.com/office/drawing/2014/main" id="{D305A3D2-A552-4BA0-8A8B-3D3711030911}"/>
              </a:ext>
            </a:extLst>
          </p:cNvPr>
          <p:cNvSpPr>
            <a:spLocks xmlns:a="http://schemas.openxmlformats.org/drawingml/2006/main" noGrp="1"/>
          </p:cNvSpPr>
          <p:nvPr/>
        </p:nvSpPr>
        <p:spPr>
          <a:xfrm xmlns:a="http://schemas.openxmlformats.org/drawingml/2006/main">
            <a:off x="685800" y="320992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6A9ED"/>
                </a:solidFill>
                <a:latin typeface="Aptos"/>
                <a:ea typeface="Aptos"/>
                <a:cs typeface="Aptos"/>
              </a:defRPr>
            </a:pPr>
            <a:r>
              <a:rPr sz="2400" b="1">
                <a:solidFill>
                  <a:srgbClr val="B6A9ED"/>
                </a:solidFill>
                <a:latin typeface="Aptos"/>
                <a:ea typeface="Aptos"/>
                <a:cs typeface="Aptos"/>
              </a:rPr>
              <a:t>Usage-sensitive services</a:t>
            </a:r>
          </a:p>
        </p:txBody>
      </p:sp>
      <p:sp>
        <p:nvSpPr>
          <p:cNvPr id="5" name="">
            <a:extLst xmlns:a="http://schemas.openxmlformats.org/drawingml/2006/main">
              <a:ext uri="{FF2B5EF4-FFF2-40B4-BE49-F238E27FC236}">
                <a16:creationId xmlns:a16="http://schemas.microsoft.com/office/drawing/2014/main" id="{7E066129-D13F-4294-B70F-8F35EF3CFF67}"/>
              </a:ext>
            </a:extLst>
          </p:cNvPr>
          <p:cNvSpPr>
            <a:spLocks xmlns:a="http://schemas.openxmlformats.org/drawingml/2006/main" noGrp="1"/>
          </p:cNvSpPr>
          <p:nvPr/>
        </p:nvSpPr>
        <p:spPr>
          <a:xfrm xmlns:a="http://schemas.openxmlformats.org/drawingml/2006/main">
            <a:off x="685800" y="3771900"/>
            <a:ext cx="10363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4F0EA"/>
                </a:solidFill>
                <a:latin typeface="Aptos"/>
                <a:ea typeface="Aptos"/>
                <a:cs typeface="Aptos"/>
              </a:defRPr>
            </a:pPr>
            <a:r>
              <a:rPr sz="2100" b="0">
                <a:solidFill>
                  <a:srgbClr val="F4F0EA"/>
                </a:solidFill>
                <a:latin typeface="Aptos"/>
                <a:ea typeface="Aptos"/>
                <a:cs typeface="Aptos"/>
              </a:rPr>
              <a:t>Requests, messages, email, storage, data transfer and AI calls.</a:t>
            </a:r>
          </a:p>
        </p:txBody>
      </p:sp>
      <p:sp>
        <p:nvSpPr>
          <p:cNvPr id="6" name="">
            <a:extLst xmlns:a="http://schemas.openxmlformats.org/drawingml/2006/main">
              <a:ext uri="{FF2B5EF4-FFF2-40B4-BE49-F238E27FC236}">
                <a16:creationId xmlns:a16="http://schemas.microsoft.com/office/drawing/2014/main" id="{5E58070D-1563-4323-A382-25F52A0342DA}"/>
              </a:ext>
            </a:extLst>
          </p:cNvPr>
          <p:cNvSpPr>
            <a:spLocks xmlns:a="http://schemas.openxmlformats.org/drawingml/2006/main" noGrp="1"/>
          </p:cNvSpPr>
          <p:nvPr/>
        </p:nvSpPr>
        <p:spPr>
          <a:xfrm xmlns:a="http://schemas.openxmlformats.org/drawingml/2006/main">
            <a:off x="685800" y="47625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6A9ED"/>
                </a:solidFill>
                <a:latin typeface="Aptos"/>
                <a:ea typeface="Aptos"/>
                <a:cs typeface="Aptos"/>
              </a:defRPr>
            </a:pPr>
            <a:r>
              <a:rPr sz="2400" b="1">
                <a:solidFill>
                  <a:srgbClr val="B6A9ED"/>
                </a:solidFill>
                <a:latin typeface="Aptos"/>
                <a:ea typeface="Aptos"/>
                <a:cs typeface="Aptos"/>
              </a:rPr>
              <a:t>Financial baseline still required</a:t>
            </a:r>
          </a:p>
        </p:txBody>
      </p:sp>
      <p:sp>
        <p:nvSpPr>
          <p:cNvPr id="7" name="">
            <a:extLst xmlns:a="http://schemas.openxmlformats.org/drawingml/2006/main">
              <a:ext uri="{FF2B5EF4-FFF2-40B4-BE49-F238E27FC236}">
                <a16:creationId xmlns:a16="http://schemas.microsoft.com/office/drawing/2014/main" id="{2EFCB454-DF6D-425A-AF4F-DF6C67B497BA}"/>
              </a:ext>
            </a:extLst>
          </p:cNvPr>
          <p:cNvSpPr>
            <a:spLocks xmlns:a="http://schemas.openxmlformats.org/drawingml/2006/main" noGrp="1"/>
          </p:cNvSpPr>
          <p:nvPr/>
        </p:nvSpPr>
        <p:spPr>
          <a:xfrm xmlns:a="http://schemas.openxmlformats.org/drawingml/2006/main">
            <a:off x="685800" y="5324475"/>
            <a:ext cx="10363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4F0EA"/>
                </a:solidFill>
                <a:latin typeface="Aptos"/>
                <a:ea typeface="Aptos"/>
                <a:cs typeface="Aptos"/>
              </a:defRPr>
            </a:pPr>
            <a:r>
              <a:rPr sz="2100" b="0">
                <a:solidFill>
                  <a:srgbClr val="F4F0EA"/>
                </a:solidFill>
                <a:latin typeface="Aptos"/>
                <a:ea typeface="Aptos"/>
                <a:cs typeface="Aptos"/>
              </a:rPr>
              <a:t>Use billing evidence and a workload forecast before quoting monthly cost or ROI.</a:t>
            </a:r>
          </a:p>
        </p:txBody>
      </p:sp>
    </p:spTree>
    <p:extLst>
      <p:ext uri="{BB962C8B-B14F-4D97-AF65-F5344CB8AC3E}">
        <p14:creationId xmlns:p14="http://schemas.microsoft.com/office/powerpoint/2010/main" val="1086608702"/>
      </p:ext>
    </p:extLst>
  </p:cSld>
</p:sld>
</file>

<file path=ppt/slides/slide9.xml><?xml version="1.0" encoding="utf-8"?>
<p:sld xmlns:p="http://schemas.openxmlformats.org/presentationml/2006/main">
  <p:cSld>
    <p:bg>
      <p:bgPr>
        <a:solidFill xmlns:a="http://schemas.openxmlformats.org/drawingml/2006/main">
          <a:srgbClr val="1117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A11AF3-DE74-4255-BF1D-ACBAE3B0DA80}"/>
              </a:ext>
            </a:extLst>
          </p:cNvPr>
          <p:cNvSpPr>
            <a:spLocks xmlns:a="http://schemas.openxmlformats.org/drawingml/2006/main" noGrp="1"/>
          </p:cNvSpPr>
          <p:nvPr/>
        </p:nvSpPr>
        <p:spPr>
          <a:xfrm xmlns:a="http://schemas.openxmlformats.org/drawingml/2006/main">
            <a:off x="685800" y="4953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A"/>
                </a:solidFill>
                <a:latin typeface="Aptos"/>
                <a:ea typeface="Aptos"/>
                <a:cs typeface="Aptos"/>
              </a:defRPr>
            </a:pPr>
            <a:r>
              <a:rPr sz="3300" b="1">
                <a:solidFill>
                  <a:srgbClr val="F4F0EA"/>
                </a:solidFill>
                <a:latin typeface="Aptos"/>
                <a:ea typeface="Aptos"/>
                <a:cs typeface="Aptos"/>
              </a:rPr>
              <a:t>Production readiness boundary</a:t>
            </a:r>
          </a:p>
        </p:txBody>
      </p:sp>
      <p:sp>
        <p:nvSpPr>
          <p:cNvPr id="2" name="">
            <a:extLst xmlns:a="http://schemas.openxmlformats.org/drawingml/2006/main">
              <a:ext uri="{FF2B5EF4-FFF2-40B4-BE49-F238E27FC236}">
                <a16:creationId xmlns:a16="http://schemas.microsoft.com/office/drawing/2014/main" id="{0C13383A-6634-4C19-B4E7-642A6D394447}"/>
              </a:ext>
            </a:extLst>
          </p:cNvPr>
          <p:cNvSpPr>
            <a:spLocks xmlns:a="http://schemas.openxmlformats.org/drawingml/2006/main" noGrp="1"/>
          </p:cNvSpPr>
          <p:nvPr/>
        </p:nvSpPr>
        <p:spPr>
          <a:xfrm xmlns:a="http://schemas.openxmlformats.org/drawingml/2006/main">
            <a:off x="685800" y="1724025"/>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6A9ED"/>
                </a:solidFill>
                <a:latin typeface="Aptos"/>
                <a:ea typeface="Aptos"/>
                <a:cs typeface="Aptos"/>
              </a:defRPr>
            </a:pPr>
            <a:r>
              <a:rPr sz="2550" b="1">
                <a:solidFill>
                  <a:srgbClr val="B6A9ED"/>
                </a:solidFill>
                <a:latin typeface="Aptos"/>
                <a:ea typeface="Aptos"/>
                <a:cs typeface="Aptos"/>
              </a:rPr>
              <a:t>Working demonstrator</a:t>
            </a:r>
          </a:p>
        </p:txBody>
      </p:sp>
      <p:sp>
        <p:nvSpPr>
          <p:cNvPr id="3" name="">
            <a:extLst xmlns:a="http://schemas.openxmlformats.org/drawingml/2006/main">
              <a:ext uri="{FF2B5EF4-FFF2-40B4-BE49-F238E27FC236}">
                <a16:creationId xmlns:a16="http://schemas.microsoft.com/office/drawing/2014/main" id="{07B23F75-9E45-4202-A367-E5426D0D68A9}"/>
              </a:ext>
            </a:extLst>
          </p:cNvPr>
          <p:cNvSpPr>
            <a:spLocks xmlns:a="http://schemas.openxmlformats.org/drawingml/2006/main" noGrp="1"/>
          </p:cNvSpPr>
          <p:nvPr/>
        </p:nvSpPr>
        <p:spPr>
          <a:xfrm xmlns:a="http://schemas.openxmlformats.org/drawingml/2006/main">
            <a:off x="685800" y="2581275"/>
            <a:ext cx="509587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0EA"/>
                </a:solidFill>
                <a:latin typeface="Aptos"/>
                <a:ea typeface="Aptos"/>
                <a:cs typeface="Aptos"/>
              </a:defRPr>
            </a:pPr>
            <a:r>
              <a:rPr sz="2175" b="0">
                <a:solidFill>
                  <a:srgbClr val="F4F0EA"/>
                </a:solidFill>
                <a:latin typeface="Aptos"/>
                <a:ea typeface="Aptos"/>
                <a:cs typeface="Aptos"/>
              </a:rPr>
              <a:t>HTTPS storefront</a:t>
            </a:r>
          </a:p>
          <a:p xmlns:a="http://schemas.openxmlformats.org/drawingml/2006/main">
            <a:pPr>
              <a:defRPr sz="2175" b="0">
                <a:solidFill>
                  <a:srgbClr val="F4F0EA"/>
                </a:solidFill>
                <a:latin typeface="Aptos"/>
                <a:ea typeface="Aptos"/>
                <a:cs typeface="Aptos"/>
              </a:defRPr>
            </a:pPr>
            <a:r>
              <a:rPr sz="2175" b="0">
                <a:solidFill>
                  <a:srgbClr val="F4F0EA"/>
                </a:solidFill>
                <a:latin typeface="Aptos"/>
                <a:ea typeface="Aptos"/>
                <a:cs typeface="Aptos"/>
              </a:rPr>
              <a:t>Inventory reservation</a:t>
            </a:r>
          </a:p>
          <a:p xmlns:a="http://schemas.openxmlformats.org/drawingml/2006/main">
            <a:pPr>
              <a:defRPr sz="2175" b="0">
                <a:solidFill>
                  <a:srgbClr val="F4F0EA"/>
                </a:solidFill>
                <a:latin typeface="Aptos"/>
                <a:ea typeface="Aptos"/>
                <a:cs typeface="Aptos"/>
              </a:defRPr>
            </a:pPr>
            <a:r>
              <a:rPr sz="2175" b="0">
                <a:solidFill>
                  <a:srgbClr val="F4F0EA"/>
                </a:solidFill>
                <a:latin typeface="Aptos"/>
                <a:ea typeface="Aptos"/>
                <a:cs typeface="Aptos"/>
              </a:rPr>
              <a:t>Persisted order and outbox</a:t>
            </a:r>
          </a:p>
          <a:p xmlns:a="http://schemas.openxmlformats.org/drawingml/2006/main">
            <a:pPr>
              <a:defRPr sz="2175" b="0">
                <a:solidFill>
                  <a:srgbClr val="F4F0EA"/>
                </a:solidFill>
                <a:latin typeface="Aptos"/>
                <a:ea typeface="Aptos"/>
                <a:cs typeface="Aptos"/>
              </a:defRPr>
            </a:pPr>
            <a:r>
              <a:rPr sz="2175" b="0">
                <a:solidFill>
                  <a:srgbClr val="F4F0EA"/>
                </a:solidFill>
                <a:latin typeface="Aptos"/>
                <a:ea typeface="Aptos"/>
                <a:cs typeface="Aptos"/>
              </a:rPr>
              <a:t>Verified-recipient email</a:t>
            </a:r>
          </a:p>
        </p:txBody>
      </p:sp>
      <p:sp>
        <p:nvSpPr>
          <p:cNvPr id="4" name="">
            <a:extLst xmlns:a="http://schemas.openxmlformats.org/drawingml/2006/main">
              <a:ext uri="{FF2B5EF4-FFF2-40B4-BE49-F238E27FC236}">
                <a16:creationId xmlns:a16="http://schemas.microsoft.com/office/drawing/2014/main" id="{554AD452-71D0-42C5-A5C4-159D7DDF8BAB}"/>
              </a:ext>
            </a:extLst>
          </p:cNvPr>
          <p:cNvSpPr>
            <a:spLocks xmlns:a="http://schemas.openxmlformats.org/drawingml/2006/main" noGrp="1"/>
          </p:cNvSpPr>
          <p:nvPr/>
        </p:nvSpPr>
        <p:spPr>
          <a:xfrm xmlns:a="http://schemas.openxmlformats.org/drawingml/2006/main">
            <a:off x="6667500" y="1724025"/>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6A9ED"/>
                </a:solidFill>
                <a:latin typeface="Aptos"/>
                <a:ea typeface="Aptos"/>
                <a:cs typeface="Aptos"/>
              </a:defRPr>
            </a:pPr>
            <a:r>
              <a:rPr sz="2550" b="1">
                <a:solidFill>
                  <a:srgbClr val="B6A9ED"/>
                </a:solidFill>
                <a:latin typeface="Aptos"/>
                <a:ea typeface="Aptos"/>
                <a:cs typeface="Aptos"/>
              </a:rPr>
              <a:t>Before a production pilot</a:t>
            </a:r>
          </a:p>
        </p:txBody>
      </p:sp>
      <p:sp>
        <p:nvSpPr>
          <p:cNvPr id="5" name="">
            <a:extLst xmlns:a="http://schemas.openxmlformats.org/drawingml/2006/main">
              <a:ext uri="{FF2B5EF4-FFF2-40B4-BE49-F238E27FC236}">
                <a16:creationId xmlns:a16="http://schemas.microsoft.com/office/drawing/2014/main" id="{21716AE3-717C-40FC-B219-FAABCE884DBE}"/>
              </a:ext>
            </a:extLst>
          </p:cNvPr>
          <p:cNvSpPr>
            <a:spLocks xmlns:a="http://schemas.openxmlformats.org/drawingml/2006/main" noGrp="1"/>
          </p:cNvSpPr>
          <p:nvPr/>
        </p:nvSpPr>
        <p:spPr>
          <a:xfrm xmlns:a="http://schemas.openxmlformats.org/drawingml/2006/main">
            <a:off x="6667500" y="2581275"/>
            <a:ext cx="48577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0EA"/>
                </a:solidFill>
                <a:latin typeface="Aptos"/>
                <a:ea typeface="Aptos"/>
                <a:cs typeface="Aptos"/>
              </a:defRPr>
            </a:pPr>
            <a:r>
              <a:rPr sz="2175" b="0">
                <a:solidFill>
                  <a:srgbClr val="F4F0EA"/>
                </a:solidFill>
                <a:latin typeface="Aptos"/>
                <a:ea typeface="Aptos"/>
                <a:cs typeface="Aptos"/>
              </a:rPr>
              <a:t>Shared verification state</a:t>
            </a:r>
          </a:p>
          <a:p xmlns:a="http://schemas.openxmlformats.org/drawingml/2006/main">
            <a:pPr>
              <a:defRPr sz="2175" b="0">
                <a:solidFill>
                  <a:srgbClr val="F4F0EA"/>
                </a:solidFill>
                <a:latin typeface="Aptos"/>
                <a:ea typeface="Aptos"/>
                <a:cs typeface="Aptos"/>
              </a:defRPr>
            </a:pPr>
            <a:r>
              <a:rPr sz="2175" b="0">
                <a:solidFill>
                  <a:srgbClr val="F4F0EA"/>
                </a:solidFill>
                <a:latin typeface="Aptos"/>
                <a:ea typeface="Aptos"/>
                <a:cs typeface="Aptos"/>
              </a:rPr>
              <a:t>Idempotency and recovery drills</a:t>
            </a:r>
          </a:p>
          <a:p xmlns:a="http://schemas.openxmlformats.org/drawingml/2006/main">
            <a:pPr>
              <a:defRPr sz="2175" b="0">
                <a:solidFill>
                  <a:srgbClr val="F4F0EA"/>
                </a:solidFill>
                <a:latin typeface="Aptos"/>
                <a:ea typeface="Aptos"/>
                <a:cs typeface="Aptos"/>
              </a:defRPr>
            </a:pPr>
            <a:r>
              <a:rPr sz="2175" b="0">
                <a:solidFill>
                  <a:srgbClr val="F4F0EA"/>
                </a:solidFill>
                <a:latin typeface="Aptos"/>
                <a:ea typeface="Aptos"/>
                <a:cs typeface="Aptos"/>
              </a:rPr>
              <a:t>Database and access hardening</a:t>
            </a:r>
          </a:p>
          <a:p xmlns:a="http://schemas.openxmlformats.org/drawingml/2006/main">
            <a:pPr>
              <a:defRPr sz="2175" b="0">
                <a:solidFill>
                  <a:srgbClr val="F4F0EA"/>
                </a:solidFill>
                <a:latin typeface="Aptos"/>
                <a:ea typeface="Aptos"/>
                <a:cs typeface="Aptos"/>
              </a:defRPr>
            </a:pPr>
            <a:r>
              <a:rPr sz="2175" b="0">
                <a:solidFill>
                  <a:srgbClr val="F4F0EA"/>
                </a:solidFill>
                <a:latin typeface="Aptos"/>
                <a:ea typeface="Aptos"/>
                <a:cs typeface="Aptos"/>
              </a:rPr>
              <a:t>Durable monitoring and alerts</a:t>
            </a:r>
          </a:p>
        </p:txBody>
      </p:sp>
      <p:sp>
        <p:nvSpPr>
          <p:cNvPr id="6" name="">
            <a:extLst xmlns:a="http://schemas.openxmlformats.org/drawingml/2006/main">
              <a:ext uri="{FF2B5EF4-FFF2-40B4-BE49-F238E27FC236}">
                <a16:creationId xmlns:a16="http://schemas.microsoft.com/office/drawing/2014/main" id="{EFAF8E19-D39D-49D6-8ED4-057D6680A19B}"/>
              </a:ext>
            </a:extLst>
          </p:cNvPr>
          <p:cNvSpPr>
            <a:spLocks xmlns:a="http://schemas.openxmlformats.org/drawingml/2006/main" noGrp="1"/>
          </p:cNvSpPr>
          <p:nvPr/>
        </p:nvSpPr>
        <p:spPr>
          <a:xfrm xmlns:a="http://schemas.openxmlformats.org/drawingml/2006/main">
            <a:off x="685800" y="58769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AC2D5"/>
                </a:solidFill>
                <a:latin typeface="Aptos"/>
                <a:ea typeface="Aptos"/>
                <a:cs typeface="Aptos"/>
              </a:defRPr>
            </a:pPr>
            <a:r>
              <a:rPr sz="1950" b="0">
                <a:solidFill>
                  <a:srgbClr val="BAC2D5"/>
                </a:solidFill>
                <a:latin typeface="Aptos"/>
                <a:ea typeface="Aptos"/>
                <a:cs typeface="Aptos"/>
              </a:rPr>
              <a:t>SNS fanout remains outside the current implementation</a:t>
            </a:r>
          </a:p>
        </p:txBody>
      </p:sp>
    </p:spTree>
    <p:extLst>
      <p:ext uri="{BB962C8B-B14F-4D97-AF65-F5344CB8AC3E}">
        <p14:creationId xmlns:p14="http://schemas.microsoft.com/office/powerpoint/2010/main" val="1229778349"/>
      </p:ext>
    </p:extLst>
  </p:cSld>
</p:sld>
</file>

<file path=ppt/slides/slide10.xml><?xml version="1.0" encoding="utf-8"?>
<p:sld xmlns:p="http://schemas.openxmlformats.org/presentationml/2006/main">
  <p:cSld>
    <p:bg>
      <p:bgPr>
        <a:solidFill xmlns:a="http://schemas.openxmlformats.org/drawingml/2006/main">
          <a:srgbClr val="11172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F62460B-4385-4EE1-8FED-6844BE57FCD4}"/>
              </a:ext>
            </a:extLst>
          </p:cNvPr>
          <p:cNvSpPr>
            <a:spLocks xmlns:a="http://schemas.openxmlformats.org/drawingml/2006/main" noGrp="1"/>
          </p:cNvSpPr>
          <p:nvPr/>
        </p:nvSpPr>
        <p:spPr>
          <a:xfrm xmlns:a="http://schemas.openxmlformats.org/drawingml/2006/main">
            <a:off x="685800" y="4953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A"/>
                </a:solidFill>
                <a:latin typeface="Aptos"/>
                <a:ea typeface="Aptos"/>
                <a:cs typeface="Aptos"/>
              </a:defRPr>
            </a:pPr>
            <a:r>
              <a:rPr sz="3300" b="1">
                <a:solidFill>
                  <a:srgbClr val="F4F0EA"/>
                </a:solidFill>
                <a:latin typeface="Aptos"/>
                <a:ea typeface="Aptos"/>
                <a:cs typeface="Aptos"/>
              </a:rPr>
              <a:t>Next decision</a:t>
            </a:r>
          </a:p>
        </p:txBody>
      </p:sp>
      <p:sp>
        <p:nvSpPr>
          <p:cNvPr id="2" name="">
            <a:extLst xmlns:a="http://schemas.openxmlformats.org/drawingml/2006/main">
              <a:ext uri="{FF2B5EF4-FFF2-40B4-BE49-F238E27FC236}">
                <a16:creationId xmlns:a16="http://schemas.microsoft.com/office/drawing/2014/main" id="{2DFDFF27-D8C9-4517-BF67-6396179E74A5}"/>
              </a:ext>
            </a:extLst>
          </p:cNvPr>
          <p:cNvSpPr>
            <a:spLocks xmlns:a="http://schemas.openxmlformats.org/drawingml/2006/main" noGrp="1"/>
          </p:cNvSpPr>
          <p:nvPr/>
        </p:nvSpPr>
        <p:spPr>
          <a:xfrm xmlns:a="http://schemas.openxmlformats.org/drawingml/2006/main">
            <a:off x="685800" y="1971675"/>
            <a:ext cx="10477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4F0EA"/>
                </a:solidFill>
                <a:latin typeface="Aptos"/>
                <a:ea typeface="Aptos"/>
                <a:cs typeface="Aptos"/>
              </a:defRPr>
            </a:pPr>
            <a:r>
              <a:rPr sz="4050" b="1">
                <a:solidFill>
                  <a:srgbClr val="F4F0EA"/>
                </a:solidFill>
                <a:latin typeface="Aptos"/>
                <a:ea typeface="Aptos"/>
                <a:cs typeface="Aptos"/>
              </a:rPr>
              <a:t>A bounded pilot with explicit</a:t>
            </a:r>
          </a:p>
          <a:p xmlns:a="http://schemas.openxmlformats.org/drawingml/2006/main">
            <a:pPr>
              <a:defRPr sz="4050" b="1">
                <a:solidFill>
                  <a:srgbClr val="F4F0EA"/>
                </a:solidFill>
                <a:latin typeface="Aptos"/>
                <a:ea typeface="Aptos"/>
                <a:cs typeface="Aptos"/>
              </a:defRPr>
            </a:pPr>
            <a:r>
              <a:rPr sz="4050" b="1">
                <a:solidFill>
                  <a:srgbClr val="F4F0EA"/>
                </a:solidFill>
                <a:latin typeface="Aptos"/>
                <a:ea typeface="Aptos"/>
                <a:cs typeface="Aptos"/>
              </a:rPr>
              <a:t>reliability and budget targets</a:t>
            </a:r>
          </a:p>
        </p:txBody>
      </p:sp>
      <p:sp>
        <p:nvSpPr>
          <p:cNvPr id="3" name="">
            <a:extLst xmlns:a="http://schemas.openxmlformats.org/drawingml/2006/main">
              <a:ext uri="{FF2B5EF4-FFF2-40B4-BE49-F238E27FC236}">
                <a16:creationId xmlns:a16="http://schemas.microsoft.com/office/drawing/2014/main" id="{AFCFCD17-B2CA-4A01-BBBE-2316AB2181F2}"/>
              </a:ext>
            </a:extLst>
          </p:cNvPr>
          <p:cNvSpPr>
            <a:spLocks xmlns:a="http://schemas.openxmlformats.org/drawingml/2006/main" noGrp="1"/>
          </p:cNvSpPr>
          <p:nvPr/>
        </p:nvSpPr>
        <p:spPr>
          <a:xfrm xmlns:a="http://schemas.openxmlformats.org/drawingml/2006/main">
            <a:off x="685800" y="4181475"/>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6A9ED"/>
                </a:solidFill>
                <a:latin typeface="Aptos"/>
                <a:ea typeface="Aptos"/>
                <a:cs typeface="Aptos"/>
              </a:defRPr>
            </a:pPr>
            <a:r>
              <a:rPr sz="2325" b="0">
                <a:solidFill>
                  <a:srgbClr val="B6A9ED"/>
                </a:solidFill>
                <a:latin typeface="Aptos"/>
                <a:ea typeface="Aptos"/>
                <a:cs typeface="Aptos"/>
              </a:rPr>
              <a:t>Agree ownership and acceptance criteria.</a:t>
            </a:r>
          </a:p>
          <a:p xmlns:a="http://schemas.openxmlformats.org/drawingml/2006/main">
            <a:pPr>
              <a:defRPr sz="2325" b="0">
                <a:solidFill>
                  <a:srgbClr val="B6A9ED"/>
                </a:solidFill>
                <a:latin typeface="Aptos"/>
                <a:ea typeface="Aptos"/>
                <a:cs typeface="Aptos"/>
              </a:defRPr>
            </a:pPr>
            <a:r>
              <a:rPr sz="2325" b="0">
                <a:solidFill>
                  <a:srgbClr val="B6A9ED"/>
                </a:solidFill>
                <a:latin typeface="Aptos"/>
                <a:ea typeface="Aptos"/>
                <a:cs typeface="Aptos"/>
              </a:rPr>
              <a:t>Close the documented control gaps.</a:t>
            </a:r>
          </a:p>
          <a:p xmlns:a="http://schemas.openxmlformats.org/drawingml/2006/main">
            <a:pPr>
              <a:defRPr sz="2325" b="0">
                <a:solidFill>
                  <a:srgbClr val="B6A9ED"/>
                </a:solidFill>
                <a:latin typeface="Aptos"/>
                <a:ea typeface="Aptos"/>
                <a:cs typeface="Aptos"/>
              </a:defRPr>
            </a:pPr>
            <a:r>
              <a:rPr sz="2325" b="0">
                <a:solidFill>
                  <a:srgbClr val="B6A9ED"/>
                </a:solidFill>
                <a:latin typeface="Aptos"/>
                <a:ea typeface="Aptos"/>
                <a:cs typeface="Aptos"/>
              </a:rPr>
              <a:t>Validate with workload and billing evidence.</a:t>
            </a:r>
          </a:p>
        </p:txBody>
      </p:sp>
    </p:spTree>
    <p:extLst>
      <p:ext uri="{BB962C8B-B14F-4D97-AF65-F5344CB8AC3E}">
        <p14:creationId xmlns:p14="http://schemas.microsoft.com/office/powerpoint/2010/main" val="17258935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2026-10-05T02:08:08.1770000Z</dcterms:created>
  <dcterms:modified xsi:type="dcterms:W3CDTF">2026-10-05T02:08:08.1770000Z</dcterms:modified>
</coreProperties>
</file>